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เปิดการอบรม: DMS คือระบบบริหารงานประจำวันของ Sappe ประกอบด้วย 5 องค์ประกอบ</a:t>
            </a:r>
          </a:p>
          <a:p>
            <a:r>
              <a:t>ตั้งความคาดหวัง: จบการอบรมแล้วทุกคนต้องอธิบายได้ว่า DMS ทำงานอย่างไรในพื้นที่ของตัวเอง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เนื้อหาแบ่งเป็น Part 00 (หลักการ) และ 5 องค์ประกอบ แต่ละองค์ประกอบมีสีประจำ ใช้สีเดียวกันตลอดเอกสาร</a:t>
            </a:r>
          </a:p>
          <a:p>
            <a:r>
              <a:t>ปิดท้ายด้วย Summary และคำถามประจำวัน 3 ข้อ (Slides 44–45)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ชี้ให้เห็นว่าปัญหาไม่ได้แพงเพราะตัวมันเอง แต่แพงเพราะพบช้า</a:t>
            </a:r>
          </a:p>
          <a:p>
            <a:r>
              <a:t>ตัวเลข 1/3/21/90 กะ คือระยะเวลาที่ปัญหาเดินต่อหากเราดูผลแค่สิ้นกะ สิ้นวัน สิ้นสัปดาห์ หรือสิ้นเดือน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เครื่องมือทั้ง 5 จะใช้ไม่ได้ถ้าขาด 3 เสาหลักนี้: ข้อมูลไหลเร็ว คนรู้บทบาท และทำสม่ำเสมอเป็นจังหวะ</a:t>
            </a:r>
          </a:p>
          <a:p>
            <a:r>
              <a:t>ถามผู้เรียน: ในพื้นที่ของเรา เสาไหนอ่อนที่สุดตอนนี้?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อุปมาระบบจราจร: เป้าหมายคือจุดหมาย มาตรฐานคือกฎจราจร สี G/Y/R คือไฟจราจร</a:t>
            </a:r>
          </a:p>
          <a:p>
            <a:r>
              <a:t>ข้อมูลจริงคือกล้อง และ Escalation/RCA คือระบบแจ้งเหตุและซ่อมถนน — ขาดอย่างใดอย่างหนึ่งรถก็ติด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เน้นฝั่งขวา: ถ้าทีมเริ่มใช้ DMS เป็นการรายงานหรือหาคนผิด ระบบจะตาย</a:t>
            </a:r>
          </a:p>
          <a:p>
            <a:r>
              <a:t>ความสำเร็จวัดจาก 3 อย่าง: รักษามาตรฐานได้ ตอบสนองทันเวลา และปัญหาเดิมไม่กลับมา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อธิบายทีละขั้น และย้ำว่าขั้นสุดท้ายไม่ใช่ 'แก้เสร็จ' แต่คือ 'มาตรฐานใหม่' ที่ทุกกะใช้</a:t>
            </a:r>
          </a:p>
          <a:p>
            <a:r>
              <a:t>ถ้าไม่ปิดวงด้วยมาตรฐานใหม่ ปัญหาเดิมจะกลับมาในกะถัดไป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มาตรฐานมี 4 ชั้น: วิธีทำ (HOW) ค่าที่ต้องคุม (WHAT) สิ่งที่ทำเมื่อผิดปกติ (Reaction Plan) และงานประจำของหัวหน้า</a:t>
            </a:r>
          </a:p>
          <a:p>
            <a:r>
              <a:t>มาตรฐานที่ดีต้องผ่าน 4 เกณฑ์ด้านล่าง ถ้าตรวจยืนยันไม่ได้ ก็ทำ Process Confirmation ไม่ได้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วงซ้าย Stabilize คือ DMS ประจำวัน (S1–S6) วงขวา Elevate คือการยกระดับด้วยโครงการ (E1–E6)</a:t>
            </a:r>
          </a:p>
          <a:p>
            <a:r>
              <a:t>Node N คือจุดส่งต่อ: B1 ปัญหาที่วงซ้ายแก้ไม่ได้ส่งไปเป็นโครงการ, B2 มาตรฐานใหม่จากโครงการกลับมาที่ 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ใช้ตัวอย่างแยกให้เห็นว่าเรื่องไหนจบใน DMS ประจำวัน เรื่องไหนต้องเปิด RCA และเรื่องไหนต้องเป็นโครงการ</a:t>
            </a:r>
          </a:p>
          <a:p>
            <a:r>
              <a:t>ความผิดพลาดที่พบบ่อย: เอาปัญหาระดับโครงการมาแก้ในประชุม SIM ทุกวันจนประชุมยืดเยื้อ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ภาพบ้าน: หลังคาคือผลลัพธ์คงที่ เสา 5 ต้นคือองค์ประกอบ ฐานคือมาตรฐาน</a:t>
            </a:r>
          </a:p>
          <a:p>
            <a:r>
              <a:t>ให้ผู้เรียนจำคำถามประจำแต่ละองค์ประกอบ — เป็นคำถามที่หัวหน้าต้องถามได้ทุกวัน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แต่ละขั้นของวง Stabilize ใช้องค์ประกอบใดเป็นเครื่องมือหลัก</a:t>
            </a:r>
          </a:p>
          <a:p>
            <a:r>
              <a:t>ถ้าองค์ประกอบใดหายไป วงจะหยุดหมุนที่ขั้นนั้น — ใช้เป็น checklist วินิจฉัยพื้นที่ได้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เล่าเป็นเรื่องเดียวตั้งแต่ KPI แดงจนถึงมาตรฐานใหม่ถูกยืนยัน</a:t>
            </a:r>
          </a:p>
          <a:p>
            <a:r>
              <a:t>ถามผู้เรียน: ในเหตุการณ์จริงล่าสุดของพื้นที่ เราหยุดอยู่ที่ขั้นไหน?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อ่านจากกลาง: Specification → มาตรฐาน → หน้างานทำตาม → เมื่อพบ Deviation ถามว่ามาตรฐานกำหนดวิธีรับมือไว้หรือไม่</a:t>
            </a:r>
          </a:p>
          <a:p>
            <a:r>
              <a:t>ไม่มี → วงแดง (Reactive): Escalate และ RCA แล้วอัปเดตมาตรฐาน · วงเขียว (Active): PC และ Coaching ป้องกันก่อนเกิด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องค์ประกอบที่ 1: ทำให้ทุกคนรู้ว่าเป้าหมายของตัวเองเชื่อมกับเป้าหมายโรงงานอย่างไร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ระดับบนดูผลรวม (Lagging) ระดับล่างดูสิ่งที่ควบคุมได้ในมือ (Leading)</a:t>
            </a:r>
          </a:p>
          <a:p>
            <a:r>
              <a:t>KPI ที่ขาด Target, Owner, Frequency หรือ Reaction Plan ข้อใดข้อหนึ่ง ยังไม่ถือว่าพร้อมใช้บนบอร์ด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Leading บอกว่าเรากำลังทำสิ่งที่ถูกต้องหรือไม่ Lagging บอกว่าได้ผลหรือไม่</a:t>
            </a:r>
          </a:p>
          <a:p>
            <a:r>
              <a:t>ถ้า Leading เขียวตลอดแต่ Lagging แดง แปลว่าเลือก Leading ผิด ต้องทบทวนความสัมพันธ์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สร้าง Cascade จากบนลงล่าง เริ่มจาก KPI โรงงานที่มีน้อยตัวและชัด</a:t>
            </a:r>
          </a:p>
          <a:p>
            <a:r>
              <a:t>ขั้นที่ 5 สำคัญที่สุด: ใช้จริงบนบอร์ด 2–4 สัปดาห์ แล้วตัด KPI ที่ไม่มีใครใช้ตัดสินใจออก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อ่านจากซ้ายไปขวา: OEE โรงงานรายสัปดาห์ แตกเป็น Downtime รายวัน, Speed/Stop รายกะ และจุดควบคุมที่เครื่อง</a:t>
            </a:r>
          </a:p>
          <a:p>
            <a:r>
              <a:t>คนหน้างานรับผิดชอบคอลัมน์ขวาสุด ซึ่งเป็นสิ่งที่ควบคุมได้จริงในกะ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บอร์ดที่ดีตอบได้ใน 5 วินาทีว่าวันนี้ปกติหรือไม่ และใครกำลังแก้อะไร</a:t>
            </a:r>
          </a:p>
          <a:p>
            <a:r>
              <a:t>ตัวเลขบนบอร์ดเป็นตัวอย่างสมมติ ใช้อธิบายองค์ประกอบของบอร์ดเท่านั้น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องค์ประกอบที่ 2: การประชุม SIM ต้องจบด้วยการตัดสินใจและ Action ที่ติดตามได้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ตรวจคุณภาพประชุมด้วยคำถามเดียว: ออกจากห้องแล้วมีการตัดสินใจและ Action ใหม่ที่มีเจ้าของหรือไม่</a:t>
            </a:r>
          </a:p>
          <a:p>
            <a:r>
              <a:t>ถ้าไม่มี แปลว่าเป็น Report-out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 เป็นขั้นบันได: เรื่องเริ่มที่ SIM 1–2 และขึ้นไปเฉพาะเมื่อเกินอำนาจหรือต้องประสานหลายหน่วย</a:t>
            </a:r>
          </a:p>
          <a:p>
            <a:r>
              <a:t>เวลาและผู้เข้าร่วมของแต่ละ SIM ให้ใช้ตาม SIM Cadence ที่โรงงานประกาศใช้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จังหวะ 4 ขั้นใช้ได้ทุกระดับ SIM ส่วน Standard Agenda 5 ข้อเป็นลำดับวาระที่ต้องเหมือนกันทุกวัน</a:t>
            </a:r>
          </a:p>
          <a:p>
            <a:r>
              <a:t>ข้อ 1 สำคัญ: เริ่มจาก Action ค้างก่อนเสมอ เพื่อไม่ให้งานหาย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บอร์ด SIM ต้องมีครบ 5 โซน: KPI, ปัญหาหลัก, ความเสี่ยง 24 ชม., Action และเรื่องที่ส่งต่อ</a:t>
            </a:r>
          </a:p>
          <a:p>
            <a:r>
              <a:t>ข้อมูลบนสไลด์เป็นตัวอย่างสมมติ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ที่ดีต้องมี Owner คนเดียว Due ที่ชัด และนิยามว่าเสร็จคืออะไร</a:t>
            </a:r>
          </a:p>
          <a:p>
            <a:r>
              <a:t>Done ยังไม่ใช่ Closed — ต้องยืนยันผลและมีหลักฐานก่อนปิด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องค์ประกอบที่ 3: ทำให้ความผิดปกติถูกเห็นเร็ว ถูกควบคุม และถูกส่งต่อไปยังคนที่ตัดสินใจได้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Deviation คือช่องว่างระหว่างผลจริงกับมาตรฐาน ไม่ใช่ความผิดของคน</a:t>
            </a:r>
          </a:p>
          <a:p>
            <a:r>
              <a:t>ฝึกให้ทีมแยก Fact กับ Assumption ตั้งแต่ตอนรายงาน — เป็นพื้นฐานของ RCA ที่ดี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Containment ปกป้องลูกค้าและคน Correction ทำให้กระบวนการกลับมาเดิน — ทั้งสองยังไม่ใช่การแก้สาเหตุ</a:t>
            </a:r>
          </a:p>
          <a:p>
            <a:r>
              <a:t>ถ้าปัญหาเดิมกลับมา แปลว่าต้องไปต่อที่ RCA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Reaction Plan ที่ดีเขียนไว้ก่อนเกิดเหตุ ทำให้คนหน้างานตัดสินใจได้ทันทีโดยไม่ต้องรอหัวหน้า</a:t>
            </a:r>
          </a:p>
          <a:p>
            <a:r>
              <a:t>ย้ำ Running ≠ Released: เดินเครื่องได้ไม่ได้แปลว่าปล่อยสินค้าได้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Escalation ที่ดีตอบ 4 ช่อง: เกิดอะไร กระทบอะไร ทำอะไรไปแล้ว และต้องการอะไรจากผู้รับ</a:t>
            </a:r>
          </a:p>
          <a:p>
            <a:r>
              <a:t>ฝึกให้ผู้เรียนเขียนข้อความ Escalation จากเหตุการณ์จริงล่าสุดในพื้นที่ของตัวเอง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มองไปข้างหน้า 24 ชม. ใน 4 มิติ: Safety, Quality, Delivery, Equipment</a:t>
            </a:r>
          </a:p>
          <a:p>
            <a:r>
              <a:t>Risk ที่จะลงบอร์ดต้องมีหลักฐาน มีผลกระทบและเวลาที่คาด และมีเจ้าของมาตรการ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องค์ประกอบที่ 4: เมื่อปัญหาสำคัญหรือเกิดซ้ำ ต้องหาและกำจัดสาเหตุ แล้วอัปเดตมาตรฐาน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บันได 5 ขั้น: สองขั้นแรกแก้เฉพาะครั้งนี้ สามขั้นหลังป้องกันไม่ให้เกิดอีก</a:t>
            </a:r>
          </a:p>
          <a:p>
            <a:r>
              <a:t>หลายทีมหยุดที่ขั้น 2 แล้วปิดงาน — นั่นคือเหตุผลที่ปัญหาเดิมกลับมา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 RCA ตามเกณฑ์ใน WI เท่านั้น เพื่อให้ทรัพยากรไปอยู่กับปัญหาที่สำคัญจริง</a:t>
            </a:r>
          </a:p>
          <a:p>
            <a:r>
              <a:t>เรื่องที่ไม่เข้าเกณฑ์ไม่ได้หายไป — ยังต้องแก้และติดตามใน DMS ตามปกติ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 Statement ที่ชัดทำให้ทีมไม่เถียงกันผิดเรื่อง และทำให้ตรวจผลได้หลังแก้</a:t>
            </a:r>
          </a:p>
          <a:p>
            <a:r>
              <a:t>ให้ผู้เรียนเขียนประโยค Vague จากพื้นที่ตัวเองใหม่ให้เป็น Specific ด้วย 5W2H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Whys ใช้เมื่อสาเหตุเป็นเส้นตรง Fishbone ใช้เมื่อมีหลายปัจจัยที่ต้องคัดกรอง</a:t>
            </a:r>
          </a:p>
          <a:p>
            <a:r>
              <a:t>หยุดถามเมื่อได้สาเหตุที่เราแก้ได้และป้องกันซ้ำได้ เช่น ไม่มีมาตรฐาน — ไม่ใช่โทษคน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RCA ไม่ได้อยู่นอก DMS: เปิดจากสัญญาณใน DMS ติดตามใน SIM และปิดด้วยมาตรฐานใหม่</a:t>
            </a:r>
          </a:p>
          <a:p>
            <a:r>
              <a:t>ห้ามใช้เวลาประชุม SIM วิเคราะห์ RCA เชิงลึก — SIM มีหน้าที่ติดตามและปลดล็อก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องค์ประกอบที่ 5: หัวหน้าทุกระดับลงไปยืนยันว่ามาตรฐานถูกทำจริง ไม่ใช่ดูจากรายงาน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 ตรวจ 4 เรื่อง: ทำตามขั้นตอนไหม ค่าควบคุมอยู่ในเกณฑ์ไหม ตอบสนองถูกไหม และมีหลักฐานไหม</a:t>
            </a:r>
          </a:p>
          <a:p>
            <a:r>
              <a:t>ผล Fail ต้องนำไปสู่ Reaction Plan ทันที และย้อนดูว่ามาตรฐานหรือการฝึกมีช่องโหว่หรือไม่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ขั้นนี้ใช้ได้ทุกระดับ ต่างกันที่จุดโฟกัส</a:t>
            </a:r>
          </a:p>
          <a:p>
            <a:r>
              <a:t>ขั้นที่ 2 มักถูกข้าม: ถ้าไม่ได้เตรียมมาตรฐานไปก่อน จะกลายเป็นการเดินดูทั่วไป ไม่ใช่การยืนยัน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แต่ละระดับมีคำถามต่างกัน: Area Leader ดูงานจริงรายวัน Manager ดูระบบควบคุมของพื้นที่ Executive ดูว่าระบบได้ผลไหม</a:t>
            </a:r>
          </a:p>
          <a:p>
            <a:r>
              <a:t>ความถี่ในคอลัมน์ขวาเป็นข้อเสนอเริ่มต้น ให้ยืนยันกับ Leader Standard Work ของแต่ละพื้นที่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 ถามว่า 'ทำตามมาตรฐานไหม' Gemba Walk ถามว่า 'มีอะไรที่เรายังไม่เห็น'</a:t>
            </a:r>
          </a:p>
          <a:p>
            <a:r>
              <a:t>ถ้าใช้ Gemba Walk แทน PC จะไม่มีหลักฐานยืนยันมาตรฐาน ถ้าใช้ PC อย่างเดียวจะไม่เห็นปัญหาใหม่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องค์ประกอบทำงานเป็นระบบเดียว ขาดตัวใดตัวหนึ่งวงจะไม่หมุน</a:t>
            </a:r>
          </a:p>
          <a:p>
            <a:r>
              <a:t>ตัวชี้วัดคอลัมน์ขวาเป็นข้อเสนอสำหรับติดตามความก้าวหน้าของ DMS — ยืนยันนิยามและ Baseline ก่อนใช้จริง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ปิดการอบรมด้วยคำถาม 3 ข้อที่หัวหน้าทุกระดับต้องถามได้ทุกวัน</a:t>
            </a:r>
          </a:p>
          <a:p>
            <a:r>
              <a:t>มอบหมาย: ภายใน 1 สัปดาห์ ให้แต่ละพื้นที่ตอบคำถาม Stabilize ใน SIM ของตัวเอง และนำผลมาทบทวนครั้งถัดไป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44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53.png"/><Relationship Id="rId5" Type="http://schemas.openxmlformats.org/officeDocument/2006/relationships/image" Target="../media/image68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2.png"/><Relationship Id="rId7" Type="http://schemas.openxmlformats.org/officeDocument/2006/relationships/image" Target="../media/image30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Relationship Id="rId10" Type="http://schemas.openxmlformats.org/officeDocument/2006/relationships/image" Target="../media/image34.png"/><Relationship Id="rId11" Type="http://schemas.openxmlformats.org/officeDocument/2006/relationships/image" Target="../media/image85.png"/><Relationship Id="rId1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1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34.png"/><Relationship Id="rId6" Type="http://schemas.openxmlformats.org/officeDocument/2006/relationships/image" Target="../media/image85.png"/><Relationship Id="rId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Relationship Id="rId4" Type="http://schemas.openxmlformats.org/officeDocument/2006/relationships/image" Target="../media/image125.png"/><Relationship Id="rId5" Type="http://schemas.openxmlformats.org/officeDocument/2006/relationships/image" Target="../media/image126.png"/><Relationship Id="rId6" Type="http://schemas.openxmlformats.org/officeDocument/2006/relationships/image" Target="../media/image20.png"/><Relationship Id="rId7" Type="http://schemas.openxmlformats.org/officeDocument/2006/relationships/image" Target="../media/image127.png"/><Relationship Id="rId8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85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36.png"/><Relationship Id="rId4" Type="http://schemas.openxmlformats.org/officeDocument/2006/relationships/image" Target="../media/image39.png"/><Relationship Id="rId5" Type="http://schemas.openxmlformats.org/officeDocument/2006/relationships/image" Target="../media/image35.png"/><Relationship Id="rId6" Type="http://schemas.openxmlformats.org/officeDocument/2006/relationships/image" Target="../media/image2.png"/><Relationship Id="rId7" Type="http://schemas.openxmlformats.org/officeDocument/2006/relationships/image" Target="../media/image122.png"/><Relationship Id="rId8" Type="http://schemas.openxmlformats.org/officeDocument/2006/relationships/image" Target="../media/image42.png"/><Relationship Id="rId9" Type="http://schemas.openxmlformats.org/officeDocument/2006/relationships/image" Target="../media/image129.png"/><Relationship Id="rId10" Type="http://schemas.openxmlformats.org/officeDocument/2006/relationships/image" Target="../media/image130.png"/><Relationship Id="rId11" Type="http://schemas.openxmlformats.org/officeDocument/2006/relationships/image" Target="../media/image131.png"/><Relationship Id="rId12" Type="http://schemas.openxmlformats.org/officeDocument/2006/relationships/image" Target="../media/image132.png"/><Relationship Id="rId13" Type="http://schemas.openxmlformats.org/officeDocument/2006/relationships/image" Target="../media/image133.png"/><Relationship Id="rId1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134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image" Target="../media/image23.png"/><Relationship Id="rId4" Type="http://schemas.openxmlformats.org/officeDocument/2006/relationships/image" Target="../media/image136.png"/><Relationship Id="rId5" Type="http://schemas.openxmlformats.org/officeDocument/2006/relationships/image" Target="../media/image134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6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44.png"/><Relationship Id="rId9" Type="http://schemas.openxmlformats.org/officeDocument/2006/relationships/image" Target="../media/image81.png"/><Relationship Id="rId10" Type="http://schemas.openxmlformats.org/officeDocument/2006/relationships/image" Target="../media/image145.png"/><Relationship Id="rId11" Type="http://schemas.openxmlformats.org/officeDocument/2006/relationships/image" Target="../media/image146.png"/><Relationship Id="rId1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0.png"/><Relationship Id="rId5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D52"/>
              </a:gs>
              <a:gs pos="100000">
                <a:srgbClr val="0C4D7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566928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1323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859536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30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SAPPE FACTORY  ·  DMS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217920" cy="2240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Daily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Management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0">
                <a:solidFill>
                  <a:srgbClr val="C9D6FF"/>
                </a:solidFill>
                <a:latin typeface="Bai Jamjuree Medium"/>
                <a:ea typeface="Bai Jamjuree Medium"/>
                <a:cs typeface="Bai Jamjuree Medium"/>
              </a:rPr>
              <a:t>DMS Introduction &amp; 5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89120"/>
            <a:ext cx="63093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4EAF7"/>
                </a:solidFill>
                <a:latin typeface="Bai Jamjuree"/>
                <a:ea typeface="Bai Jamjuree"/>
                <a:cs typeface="Bai Jamjuree"/>
              </a:rPr>
              <a:t>บริหารงานประจำวันให้ควบคุมได้ ตั้งแต่เป้าหมายโรงงานจนถึงหน้างานจริง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5330952"/>
            <a:ext cx="411480" cy="36576"/>
          </a:xfrm>
          <a:prstGeom prst="rect">
            <a:avLst/>
          </a:prstGeom>
          <a:solidFill>
            <a:srgbClr val="E5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We Drive with Standard and Commitment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417320"/>
            <a:ext cx="4507992" cy="676656"/>
          </a:xfrm>
          <a:prstGeom prst="roundRect">
            <a:avLst>
              <a:gd name="adj" fmla="val 1621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232904" y="15361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ccount_tre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659" y="1634947"/>
            <a:ext cx="241402" cy="2414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18120" y="15087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48132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KPI Cascade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773936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6E6"/>
                </a:solidFill>
                <a:latin typeface="Bai Jamjuree"/>
                <a:ea typeface="Bai Jamjuree"/>
                <a:cs typeface="Bai Jamjuree"/>
              </a:rPr>
              <a:t>เป้าหมายที่เชื่อมกันทุกระดับ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2221992"/>
            <a:ext cx="4507992" cy="676656"/>
          </a:xfrm>
          <a:prstGeom prst="roundRect">
            <a:avLst>
              <a:gd name="adj" fmla="val 1621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232904" y="23408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group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659" y="2439619"/>
            <a:ext cx="241402" cy="2414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8120" y="23134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860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Purposeful Meeting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57860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6E6"/>
                </a:solidFill>
                <a:latin typeface="Bai Jamjuree"/>
                <a:ea typeface="Bai Jamjuree"/>
                <a:cs typeface="Bai Jamjuree"/>
              </a:rPr>
              <a:t>ประชุมเพื่อตัดสินใจ ไม่ใช่รายงาน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3026664"/>
            <a:ext cx="4507992" cy="676656"/>
          </a:xfrm>
          <a:prstGeom prst="roundRect">
            <a:avLst>
              <a:gd name="adj" fmla="val 1621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7232904" y="314553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notification_importan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659" y="3244291"/>
            <a:ext cx="241402" cy="2414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18120" y="31181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309067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Deviation &amp; 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38328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6E6"/>
                </a:solidFill>
                <a:latin typeface="Bai Jamjuree"/>
                <a:ea typeface="Bai Jamjuree"/>
                <a:cs typeface="Bai Jamjuree"/>
              </a:rPr>
              <a:t>เห็นเร็ว ควบคุมได้ ส่งต่อถูกระดับ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831336"/>
            <a:ext cx="4507992" cy="676656"/>
          </a:xfrm>
          <a:prstGeom prst="roundRect">
            <a:avLst>
              <a:gd name="adj" fmla="val 1621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7232904" y="395020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roublesho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659" y="4048963"/>
            <a:ext cx="241402" cy="2414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818120" y="392277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89534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RCA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18795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6E6"/>
                </a:solidFill>
                <a:latin typeface="Bai Jamjuree"/>
                <a:ea typeface="Bai Jamjuree"/>
                <a:cs typeface="Bai Jamjuree"/>
              </a:rPr>
              <a:t>กำจัดสาเหตุ ไม่ให้เกิดซ้ำ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6600" y="4636008"/>
            <a:ext cx="4507992" cy="676656"/>
          </a:xfrm>
          <a:prstGeom prst="roundRect">
            <a:avLst>
              <a:gd name="adj" fmla="val 1621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232904" y="475488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fact_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659" y="4853635"/>
            <a:ext cx="241402" cy="2414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818120" y="47274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47000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4992624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9C6E6"/>
                </a:solidFill>
                <a:latin typeface="Bai Jamjuree"/>
                <a:ea typeface="Bai Jamjuree"/>
                <a:cs typeface="Bai Jamjuree"/>
              </a:rPr>
              <a:t>ยืนยันมาตรฐานที่หน้างานจริง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Training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ภาพรวมเนื้อหา 6 ส่วน · ใช้เวลาอบรมตามลำดับซ้ายไปขวา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ll_inclusive_7FDB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020824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" y="25146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AFC0E8"/>
                </a:solidFill>
                <a:latin typeface="Bai Jamjuree SemiBold"/>
                <a:ea typeface="Bai Jamjuree SemiBold"/>
                <a:cs typeface="Bai Jamjuree SemiBold"/>
              </a:rPr>
              <a:t>PART 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5234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DMS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89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DMS คืออะไร · วงจรการทำงาน · มาตรฐาน · SAPPE Infinite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753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Slides 03–14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1396" y="1783080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account_tree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2020824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67428" y="25146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COMPONENT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7428" y="275234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Cascade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7428" y="31089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ถ่ายทอดเป้าหมายจากโรงงานสู่หน้างาน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7428" y="35753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Slides 15–20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1783080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groups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2020824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84464" y="25146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COMPONENT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752344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Purposeful Meeting 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310896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SIM Cadence และการประชุมที่จบด้วยการตัดสินใจ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3575304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Slides 21–26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42232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notification_important_D97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379976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0392" y="487375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COMPONENT 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511149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Deviation &amp; Escalation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546811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เห็นความผิดปกติเร็ว ควบคุม และส่งต่อถูกระดับ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59344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Slides 27–32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1396" y="4142232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troubleshoot_C836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379976"/>
            <a:ext cx="384048" cy="38404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67428" y="487375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COMPONENT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7428" y="511149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RCA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7428" y="546811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กำจัดสาเหตุของปัญหาสำคัญและปัญหาซ้ำ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7428" y="59344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Slides 33–38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8432" y="4142232"/>
            <a:ext cx="3566160" cy="2176272"/>
          </a:xfrm>
          <a:prstGeom prst="roundRect">
            <a:avLst>
              <a:gd name="adj" fmla="val 6722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fact_check_3F51B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4379976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84464" y="487375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spc="10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COMPONENT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5111496"/>
            <a:ext cx="31089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546811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ยืนยันว่ามาตรฐานเกิดขึ้นจริงที่หน้างาน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59344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Slides 39–43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Why a Factory Needs 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เป้าหมายของโรงงานไม่เท่ากับผลลัพธ์ที่เกิดขึ้นจริงเสมอไป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48640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Cost of Late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68296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จำนวนกะที่ปัญหาเดินต่อเนื่องก่อนถูกพบ (โรงงาน 3 กะ / วัน)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 SemiBold"/>
                <a:ea typeface="Bai Jamjuree SemiBold"/>
                <a:cs typeface="Bai Jamjuree SemiBold"/>
              </a:rPr>
              <a:t>ภายในกะ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980944"/>
            <a:ext cx="3246120" cy="274320"/>
          </a:xfrm>
          <a:prstGeom prst="roundRect">
            <a:avLst>
              <a:gd name="adj" fmla="val 2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011680" y="2980944"/>
            <a:ext cx="164592" cy="274320"/>
          </a:xfrm>
          <a:prstGeom prst="roundRect">
            <a:avLst>
              <a:gd name="adj" fmla="val 4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67712" y="2926080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1 กะ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84448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 SemiBold"/>
                <a:ea typeface="Bai Jamjuree SemiBold"/>
                <a:cs typeface="Bai Jamjuree SemiBold"/>
              </a:rPr>
              <a:t>สิ้นวัน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639312"/>
            <a:ext cx="3246120" cy="274320"/>
          </a:xfrm>
          <a:prstGeom prst="roundRect">
            <a:avLst>
              <a:gd name="adj" fmla="val 2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011680" y="3639312"/>
            <a:ext cx="164592" cy="274320"/>
          </a:xfrm>
          <a:prstGeom prst="roundRect">
            <a:avLst>
              <a:gd name="adj" fmla="val 44444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67712" y="3584448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E8A317"/>
                </a:solidFill>
                <a:latin typeface="Bai Jamjuree SemiBold"/>
                <a:ea typeface="Bai Jamjuree SemiBold"/>
                <a:cs typeface="Bai Jamjuree SemiBold"/>
              </a:rPr>
              <a:t>3 กะ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42816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 SemiBold"/>
                <a:ea typeface="Bai Jamjuree SemiBold"/>
                <a:cs typeface="Bai Jamjuree SemiBold"/>
              </a:rPr>
              <a:t>สิ้นสัปดาห์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297680"/>
            <a:ext cx="3246120" cy="274320"/>
          </a:xfrm>
          <a:prstGeom prst="roundRect">
            <a:avLst>
              <a:gd name="adj" fmla="val 2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011680" y="4297680"/>
            <a:ext cx="757428" cy="274320"/>
          </a:xfrm>
          <a:prstGeom prst="roundRect">
            <a:avLst>
              <a:gd name="adj" fmla="val 26666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860548" y="4242816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730D"/>
                </a:solidFill>
                <a:latin typeface="Bai Jamjuree SemiBold"/>
                <a:ea typeface="Bai Jamjuree SemiBold"/>
                <a:cs typeface="Bai Jamjuree SemiBold"/>
              </a:rPr>
              <a:t>21 กะ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972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 SemiBold"/>
                <a:ea typeface="Bai Jamjuree SemiBold"/>
                <a:cs typeface="Bai Jamjuree SemiBold"/>
              </a:rPr>
              <a:t>สิ้นเดือน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956048"/>
            <a:ext cx="3246120" cy="274320"/>
          </a:xfrm>
          <a:prstGeom prst="roundRect">
            <a:avLst>
              <a:gd name="adj" fmla="val 2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011680" y="4956048"/>
            <a:ext cx="3246120" cy="274320"/>
          </a:xfrm>
          <a:prstGeom prst="roundRect">
            <a:avLst>
              <a:gd name="adj" fmla="val 26666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72000" y="4901184"/>
            <a:ext cx="640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90 กะ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577840"/>
            <a:ext cx="4846320" cy="457200"/>
          </a:xfrm>
          <a:prstGeom prst="roundRect">
            <a:avLst>
              <a:gd name="adj" fmla="val 2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×90 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พบช้า 1 เดือน = ปัญหาเดียวกันสะสมนาน 90 กะ ก่อนมีใครแก้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819656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track_changes_1A66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014" y="1934870"/>
            <a:ext cx="281635" cy="2816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86600" y="1783080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Target ≠ Actual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103120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เครื่องหยุด วัตถุดิบผิดปกติ หรืองานส่งต่อระหว่างกะไม่ครบ ทำให้ผลจริงหลุดเป้า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843784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chedule_D97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014" y="2958998"/>
            <a:ext cx="281635" cy="28163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086600" y="2807208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Late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127248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ปัญหาเล็กสะสมเป็นของเสีย ชั่วโมงผลิตที่สูญหาย และความเสี่ยงคุณภาพ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67912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replay_C836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014" y="3983126"/>
            <a:ext cx="281635" cy="28163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86600" y="3831336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Firefighting Only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151376"/>
            <a:ext cx="448056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แก้เฉพาะหน้าอย่างเดียว ปัญหาเดิมจึงกลับมาซ้ำ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120640"/>
            <a:ext cx="5193792" cy="1143000"/>
          </a:xfrm>
          <a:prstGeom prst="roundRect">
            <a:avLst>
              <a:gd name="adj" fmla="val 11200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visibility_7FDB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5468112"/>
            <a:ext cx="438912" cy="4389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296912" y="5230368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DMS ทำให้เห็นช่องว่างระหว่างเป้าหมายกับผลจริงทุกวัน — ก่อนที่ความสูญเสียจะสะสม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Core Pillars of 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สามสิ่งที่ทำให้เครื่องมือทั้ง 5 องค์ประกอบทำงานได้จริง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66160" cy="44805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66160" cy="64008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86968" y="2103120"/>
            <a:ext cx="713232" cy="713232"/>
          </a:xfrm>
          <a:prstGeom prst="ellipse">
            <a:avLst/>
          </a:prstGeom>
          <a:solidFill>
            <a:srgbClr val="0E8C6C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orum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45" y="2263597"/>
            <a:ext cx="392278" cy="3922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6968" y="29718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0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PILLAR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2783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Information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6393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สื่อสารความผิดปกติให้เร็วที่สุด ไม่รอสิ้นกะหรือสิ้นวัน</a:t>
            </a:r>
          </a:p>
        </p:txBody>
      </p:sp>
      <p:pic>
        <p:nvPicPr>
          <p:cNvPr id="13" name="Picture 12" descr="check_circle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361688"/>
            <a:ext cx="219456" cy="21945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97864" y="43251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แจ้งทันทีเมื่อพบสิ่งผิดปกติ</a:t>
            </a:r>
          </a:p>
        </p:txBody>
      </p:sp>
      <p:pic>
        <p:nvPicPr>
          <p:cNvPr id="15" name="Picture 14" descr="check_circle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727448"/>
            <a:ext cx="219456" cy="219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97864" y="46908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ใช้ข้อเท็จจริง ไม่ใช่ความรู้สึก</a:t>
            </a:r>
          </a:p>
        </p:txBody>
      </p:sp>
      <p:pic>
        <p:nvPicPr>
          <p:cNvPr id="17" name="Picture 16" descr="check_circle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093208"/>
            <a:ext cx="219456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97864" y="5056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ส่งต่อข้อมูลครบระหว่างกะ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5641848"/>
            <a:ext cx="2980944" cy="402336"/>
          </a:xfrm>
          <a:prstGeom prst="roundRect">
            <a:avLst>
              <a:gd name="adj" fmla="val 18181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Early · Fact-based · Visible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1396" y="1783080"/>
            <a:ext cx="3566160" cy="44805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4311396" y="1783080"/>
            <a:ext cx="3566160" cy="64008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604004" y="2103120"/>
            <a:ext cx="713232" cy="713232"/>
          </a:xfrm>
          <a:prstGeom prst="ellipse">
            <a:avLst/>
          </a:prstGeom>
          <a:solidFill>
            <a:srgbClr val="1A66D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roup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481" y="2263597"/>
            <a:ext cx="392278" cy="39227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4004" y="29718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0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PILLAR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4004" y="322783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Responsibility at Each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4004" y="36393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ความเป็นเจ้าของและความรับผิดชอบชัดเจนตามบทบาท</a:t>
            </a:r>
          </a:p>
        </p:txBody>
      </p:sp>
      <p:pic>
        <p:nvPicPr>
          <p:cNvPr id="27" name="Picture 26" descr="check_circle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361688"/>
            <a:ext cx="219456" cy="21945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14900" y="43251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รู้ว่าเรื่องใดตัดสินใจเองได้</a:t>
            </a:r>
          </a:p>
        </p:txBody>
      </p:sp>
      <p:pic>
        <p:nvPicPr>
          <p:cNvPr id="29" name="Picture 28" descr="check_circle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727448"/>
            <a:ext cx="219456" cy="21945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14900" y="46908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รู้ว่าเรื่องใดต้องส่งต่อ</a:t>
            </a:r>
          </a:p>
        </p:txBody>
      </p:sp>
      <p:pic>
        <p:nvPicPr>
          <p:cNvPr id="31" name="Picture 30" descr="check_circle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5093208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914900" y="5056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ทุก Action มีเจ้าของ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4004" y="5641848"/>
            <a:ext cx="2980944" cy="402336"/>
          </a:xfrm>
          <a:prstGeom prst="roundRect">
            <a:avLst>
              <a:gd name="adj" fmla="val 18181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Clear Owner · Clear Decision Right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1783080"/>
            <a:ext cx="3566160" cy="44805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28432" y="1783080"/>
            <a:ext cx="3566160" cy="64008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321040" y="2103120"/>
            <a:ext cx="713232" cy="713232"/>
          </a:xfrm>
          <a:prstGeom prst="ellipse">
            <a:avLst/>
          </a:prstGeom>
          <a:solidFill>
            <a:srgbClr val="C8361F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alar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517" y="2263597"/>
            <a:ext cx="392278" cy="39227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321040" y="297180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0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PILLAR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227832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Behaviour · Drum Beat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3639312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เดินตามจังหวะกลอง ทำเป็นกิจวัตร ตรงเวลา และสม่ำเสมอ</a:t>
            </a:r>
          </a:p>
        </p:txBody>
      </p:sp>
      <p:pic>
        <p:nvPicPr>
          <p:cNvPr id="41" name="Picture 40" descr="check_circle_C836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361688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31936" y="432511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ประชุมตรงเวลา ตามวาระมาตรฐาน</a:t>
            </a:r>
          </a:p>
        </p:txBody>
      </p:sp>
      <p:pic>
        <p:nvPicPr>
          <p:cNvPr id="43" name="Picture 42" descr="check_circle_C836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727448"/>
            <a:ext cx="219456" cy="2194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31936" y="469087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ติดตามงานค้างทุกรอบ</a:t>
            </a:r>
          </a:p>
        </p:txBody>
      </p:sp>
      <p:pic>
        <p:nvPicPr>
          <p:cNvPr id="45" name="Picture 44" descr="check_circle_C836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5093208"/>
            <a:ext cx="219456" cy="21945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31936" y="505663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ทำซ้ำจนเป็นนิสัยของทีม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21040" y="5641848"/>
            <a:ext cx="2980944" cy="402336"/>
          </a:xfrm>
          <a:prstGeom prst="roundRect">
            <a:avLst>
              <a:gd name="adj" fmla="val 18181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Same Rhythm · Every Shift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DMS as a Traffic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มีจุดหมายอย่างเดียวไม่พอ ต้องมีกฎ สัญญาณ ข้อมูล และระบบแจ้งเหตุด้วย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075688" cy="3520440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la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3" y="2205533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2862072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 Medium"/>
                <a:ea typeface="Bai Jamjuree Medium"/>
                <a:cs typeface="Bai Jamjuree Medium"/>
              </a:rPr>
              <a:t>Destination</a:t>
            </a:r>
          </a:p>
        </p:txBody>
      </p:sp>
      <p:pic>
        <p:nvPicPr>
          <p:cNvPr id="10" name="Picture 9" descr="south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72968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350215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Target &amp; 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78808"/>
            <a:ext cx="1709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จุดหมายที่ทุกระดับต้องไปให้ถึง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8356" y="1783080"/>
            <a:ext cx="2075688" cy="3520440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076956" y="2057400"/>
            <a:ext cx="658368" cy="658368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menu_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089" y="2205533"/>
            <a:ext cx="362102" cy="36210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76956" y="2862072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 Medium"/>
                <a:ea typeface="Bai Jamjuree Medium"/>
                <a:cs typeface="Bai Jamjuree Medium"/>
              </a:rPr>
              <a:t>Traffic Rules</a:t>
            </a:r>
          </a:p>
        </p:txBody>
      </p:sp>
      <p:pic>
        <p:nvPicPr>
          <p:cNvPr id="17" name="Picture 16" descr="south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956" y="3172968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76956" y="350215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Standard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6956" y="4178808"/>
            <a:ext cx="1709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วิธีทำงานที่ถูกต้องและเหมือนกันทุกกะ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02352" y="1783080"/>
            <a:ext cx="2075688" cy="3520440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330952" y="2057400"/>
            <a:ext cx="658368" cy="658368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traffic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9085" y="2205533"/>
            <a:ext cx="362102" cy="3621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30952" y="2862072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 Medium"/>
                <a:ea typeface="Bai Jamjuree Medium"/>
                <a:cs typeface="Bai Jamjuree Medium"/>
              </a:rPr>
              <a:t>Traffic Lights</a:t>
            </a:r>
          </a:p>
        </p:txBody>
      </p:sp>
      <p:pic>
        <p:nvPicPr>
          <p:cNvPr id="24" name="Picture 23" descr="south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3172968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30952" y="350215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Green / Yellow / 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4178808"/>
            <a:ext cx="1709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สถานะปกติและผิดปกติที่เห็นได้ทันที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56348" y="1783080"/>
            <a:ext cx="2075688" cy="3520440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584948" y="2057400"/>
            <a:ext cx="658368" cy="658368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videocam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081" y="2205533"/>
            <a:ext cx="362102" cy="36210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84948" y="2862072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 Medium"/>
                <a:ea typeface="Bai Jamjuree Medium"/>
                <a:cs typeface="Bai Jamjuree Medium"/>
              </a:rPr>
              <a:t>Cameras &amp; Data</a:t>
            </a:r>
          </a:p>
        </p:txBody>
      </p:sp>
      <p:pic>
        <p:nvPicPr>
          <p:cNvPr id="31" name="Picture 30" descr="south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48" y="3172968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4948" y="350215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Actual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4948" y="4178808"/>
            <a:ext cx="1709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ติดตามผลจริงตามรอบเวลา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10344" y="1783080"/>
            <a:ext cx="2075688" cy="3520440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9838944" y="2057400"/>
            <a:ext cx="658368" cy="658368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constructio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7077" y="2205533"/>
            <a:ext cx="362102" cy="36210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838944" y="2862072"/>
            <a:ext cx="170992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 Medium"/>
                <a:ea typeface="Bai Jamjuree Medium"/>
                <a:cs typeface="Bai Jamjuree Medium"/>
              </a:rPr>
              <a:t>Incident &amp; Road Repair</a:t>
            </a:r>
          </a:p>
        </p:txBody>
      </p:sp>
      <p:pic>
        <p:nvPicPr>
          <p:cNvPr id="38" name="Picture 37" descr="south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4" y="3172968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838944" y="3502152"/>
            <a:ext cx="170992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Escalation &amp; RCA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4178808"/>
            <a:ext cx="1709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แจ้งเหตุทันเวลา และแก้ที่สาเหตุเมื่อเกิดซ้ำ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486400"/>
            <a:ext cx="11000232" cy="749808"/>
          </a:xfrm>
          <a:prstGeom prst="roundRect">
            <a:avLst>
              <a:gd name="adj" fmla="val 17073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60" y="5486400"/>
            <a:ext cx="91440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DMS =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5632704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2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groups_7FDB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7440" y="5733288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24912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คน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41648" y="5632704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+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5632704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2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rule_7FDB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5733288"/>
            <a:ext cx="256032" cy="25603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193792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มาตรฐาน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0528" y="5632704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+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766560" y="5632704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2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database_7FDBC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5200" y="5733288"/>
            <a:ext cx="256032" cy="2560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662672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ข้อมูล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79408" y="5632704"/>
            <a:ext cx="256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+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35440" y="5632704"/>
            <a:ext cx="2212848" cy="457200"/>
          </a:xfrm>
          <a:prstGeom prst="roundRect">
            <a:avLst>
              <a:gd name="adj" fmla="val 16000"/>
            </a:avLst>
          </a:prstGeom>
          <a:solidFill>
            <a:srgbClr val="223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gavel_7FDBC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84080" y="5733288"/>
            <a:ext cx="256032" cy="25603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131552" y="5632704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การตัดสินใจ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What DMS Is — and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แยกให้ชัดตั้งแต่ต้น เพื่อไม่ให้ DMS กลายเป็นงานเอกสาร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440680" cy="3840480"/>
          </a:xfrm>
          <a:prstGeom prst="roundRect">
            <a:avLst>
              <a:gd name="adj" fmla="val 4285"/>
            </a:avLst>
          </a:prstGeom>
          <a:gradFill rotWithShape="1">
            <a:gsLst>
              <a:gs pos="0">
                <a:srgbClr val="0B7A5D"/>
              </a:gs>
              <a:gs pos="100000">
                <a:srgbClr val="11906F"/>
              </a:gs>
            </a:gsLst>
            <a:lin scaled="0" ang="27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heck_circl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30552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209397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DMS Is</a:t>
            </a:r>
          </a:p>
        </p:txBody>
      </p:sp>
      <p:pic>
        <p:nvPicPr>
          <p:cNvPr id="9" name="Picture 8" descr="check_7FDB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871216"/>
            <a:ext cx="237744" cy="2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83464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ระบบควบคุมและปรับปรุงงานประจำวันจากข้อเท็จจริง</a:t>
            </a:r>
          </a:p>
        </p:txBody>
      </p:sp>
      <p:pic>
        <p:nvPicPr>
          <p:cNvPr id="11" name="Picture 10" descr="check_7FDB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29584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3493008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มาตรฐาน → ติดตาม → พบความผิดปกติ → ตอบสนอง → ติดตามจนปิด</a:t>
            </a:r>
          </a:p>
        </p:txBody>
      </p:sp>
      <p:pic>
        <p:nvPicPr>
          <p:cNvPr id="13" name="Picture 12" descr="check_7FDB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187952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415137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ทุกเรื่องมีเจ้าของ มีกำหนดเวลา และมีหลักฐานการปิด</a:t>
            </a:r>
          </a:p>
        </p:txBody>
      </p:sp>
      <p:pic>
        <p:nvPicPr>
          <p:cNvPr id="15" name="Picture 14" descr="check_7FDB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846320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4809744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แก้ที่สาเหตุ แล้วอัปเดตมาตรฐานให้ทุกกะทำเหมือนกัน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1783080"/>
            <a:ext cx="5440680" cy="3840480"/>
          </a:xfrm>
          <a:prstGeom prst="roundRect">
            <a:avLst>
              <a:gd name="adj" fmla="val 4285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ancel_C836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130552"/>
            <a:ext cx="420624" cy="4206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50608" y="2093976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DMS Is Not</a:t>
            </a:r>
          </a:p>
        </p:txBody>
      </p:sp>
      <p:pic>
        <p:nvPicPr>
          <p:cNvPr id="20" name="Picture 19" descr="close_C83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2871216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3448" y="2834640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การประชุมเพื่อรายงานผลย้อนหลัง</a:t>
            </a:r>
          </a:p>
        </p:txBody>
      </p:sp>
      <p:pic>
        <p:nvPicPr>
          <p:cNvPr id="22" name="Picture 21" descr="close_C83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352958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13448" y="3493008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การทำ Dashboard หรือบอร์ดให้ดูดี</a:t>
            </a:r>
          </a:p>
        </p:txBody>
      </p:sp>
      <p:pic>
        <p:nvPicPr>
          <p:cNvPr id="24" name="Picture 23" descr="close_C83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187952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13448" y="4151376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การตรวจเอกสารให้ครบขั้นตอน หรือเพิ่มจำนวนประชุม</a:t>
            </a:r>
          </a:p>
        </p:txBody>
      </p:sp>
      <p:pic>
        <p:nvPicPr>
          <p:cNvPr id="26" name="Picture 25" descr="close_C83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0256" y="484632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13448" y="4809744"/>
            <a:ext cx="438912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การตรวจเพื่อหาคนผิด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806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Success =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74520" y="5824728"/>
            <a:ext cx="1360092" cy="347472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รักษามาตรฐาน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44340" y="5824728"/>
            <a:ext cx="1659348" cy="347472"/>
          </a:xfrm>
          <a:prstGeom prst="roundRect">
            <a:avLst>
              <a:gd name="adj" fmla="val 50000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ตอบสนองต่อปัญหา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13415" y="5824728"/>
            <a:ext cx="1227870" cy="347472"/>
          </a:xfrm>
          <a:prstGeom prst="roundRect">
            <a:avLst>
              <a:gd name="adj" fmla="val 5000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ลดการเกิดซ้ำ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The DMS Control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วงจรต่อเนื่องที่หมุนทุกกะ จนการแก้ไขกลายเป็นวิธีทำงานปกติ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938528" cy="3017520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1938528" cy="64008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95528" y="2057400"/>
            <a:ext cx="603504" cy="603504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rul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16" y="2193188"/>
            <a:ext cx="331927" cy="3319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8" y="2770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0088"/>
            <a:ext cx="161848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Set Standard &amp;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566160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กำหนดวิธีทำงาน ค่าควบคุม และเป้าหมาย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343400"/>
            <a:ext cx="1246230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SOP · WI · Target</a:t>
            </a:r>
          </a:p>
        </p:txBody>
      </p:sp>
      <p:pic>
        <p:nvPicPr>
          <p:cNvPr id="14" name="Picture 13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036" y="3172968"/>
            <a:ext cx="237744" cy="23774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52928" y="1783080"/>
            <a:ext cx="1938528" cy="3017520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852928" y="1783080"/>
            <a:ext cx="1938528" cy="64008"/>
          </a:xfrm>
          <a:prstGeom prst="rect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3054096" y="2057400"/>
            <a:ext cx="603504" cy="603504"/>
          </a:xfrm>
          <a:prstGeom prst="ellipse">
            <a:avLst/>
          </a:prstGeom>
          <a:solidFill>
            <a:srgbClr val="0F7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monitor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884" y="2193188"/>
            <a:ext cx="331927" cy="3319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054096" y="2770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7C80"/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4096" y="2990088"/>
            <a:ext cx="161848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Run &amp; 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566160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ทำงานตามมาตรฐาน บันทึกผลจริงตามรอบ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54096" y="4343400"/>
            <a:ext cx="978863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Record · KPI</a:t>
            </a:r>
          </a:p>
        </p:txBody>
      </p:sp>
      <p:pic>
        <p:nvPicPr>
          <p:cNvPr id="23" name="Picture 22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2604" y="3172968"/>
            <a:ext cx="237744" cy="237744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111496" y="1783080"/>
            <a:ext cx="1938528" cy="3017520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111496" y="1783080"/>
            <a:ext cx="1938528" cy="64008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5312664" y="2057400"/>
            <a:ext cx="603504" cy="603504"/>
          </a:xfrm>
          <a:prstGeom prst="ellipse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error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452" y="2193188"/>
            <a:ext cx="331927" cy="33192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12664" y="2770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730D"/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12664" y="2990088"/>
            <a:ext cx="161848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Detect Deviation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12664" y="3566160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เห็นความเบี่ยงเบนจากมาตรฐานทันเวลา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12664" y="4343400"/>
            <a:ext cx="1008617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Red / Yellow</a:t>
            </a:r>
          </a:p>
        </p:txBody>
      </p:sp>
      <p:pic>
        <p:nvPicPr>
          <p:cNvPr id="32" name="Picture 31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172" y="3172968"/>
            <a:ext cx="237744" cy="237744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7370064" y="1783080"/>
            <a:ext cx="1938528" cy="3017520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370064" y="1783080"/>
            <a:ext cx="1938528" cy="64008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571232" y="2057400"/>
            <a:ext cx="603504" cy="603504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shiel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7020" y="2193188"/>
            <a:ext cx="331927" cy="3319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571232" y="2770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1232" y="2990088"/>
            <a:ext cx="161848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Contain &amp; Escalate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2" y="3566160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ควบคุมผลกระทบ ส่งต่อเมื่อเกินอำนาจ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71232" y="4343400"/>
            <a:ext cx="136385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Contain · Escalate</a:t>
            </a:r>
          </a:p>
        </p:txBody>
      </p:sp>
      <p:pic>
        <p:nvPicPr>
          <p:cNvPr id="41" name="Picture 40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9740" y="3172968"/>
            <a:ext cx="237744" cy="237744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9628632" y="1783080"/>
            <a:ext cx="1938528" cy="3017520"/>
          </a:xfrm>
          <a:prstGeom prst="roundRect">
            <a:avLst>
              <a:gd name="adj" fmla="val 660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628632" y="1783080"/>
            <a:ext cx="1938528" cy="64008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9829800" y="2057400"/>
            <a:ext cx="603504" cy="603504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published_with_changes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5588" y="2193188"/>
            <a:ext cx="331927" cy="3319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829800" y="27706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2990088"/>
            <a:ext cx="161848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Fix &amp; Standardize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3566160"/>
            <a:ext cx="161848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แก้สาเหตุ ปรับมาตรฐาน ตรวจผลต่อเนื่อง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829800" y="4343400"/>
            <a:ext cx="110235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New Standard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597896" y="4846320"/>
            <a:ext cx="0" cy="365760"/>
          </a:xfrm>
          <a:prstGeom prst="line">
            <a:avLst/>
          </a:prstGeom>
          <a:ln w="19050">
            <a:solidFill>
              <a:srgbClr val="9AA8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563624" y="5212080"/>
            <a:ext cx="9034272" cy="0"/>
          </a:xfrm>
          <a:prstGeom prst="line">
            <a:avLst/>
          </a:prstGeom>
          <a:ln w="19050">
            <a:solidFill>
              <a:srgbClr val="9AA8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563624" y="4873752"/>
            <a:ext cx="0" cy="338328"/>
          </a:xfrm>
          <a:prstGeom prst="line">
            <a:avLst/>
          </a:prstGeom>
          <a:ln w="19050">
            <a:solidFill>
              <a:srgbClr val="9AA8C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566160" y="4992624"/>
            <a:ext cx="507492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มาตรฐานใหม่กลับเป็นจุดเริ่มต้นของรอบถัดไป</a:t>
            </a:r>
          </a:p>
        </p:txBody>
      </p:sp>
      <p:pic>
        <p:nvPicPr>
          <p:cNvPr id="54" name="Picture 53" descr="autorenew_0E8C6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0752" y="5084064"/>
            <a:ext cx="256032" cy="25603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594360" y="5715000"/>
            <a:ext cx="11000232" cy="548640"/>
          </a:xfrm>
          <a:prstGeom prst="roundRect">
            <a:avLst>
              <a:gd name="adj" fmla="val 16666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" y="57150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รอบการหมุน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14600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ทุกกะ: Run · Detect · Contain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60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ทุกวัน: ทบทวน KPI และ Action ใน SIM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57150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เมื่อเข้าเกณฑ์: RCA → New Standard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Standards: The Foundation of 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ถ้าไม่ชัดว่าอะไรคือ “ปกติ” ก็จะไม่เห็นว่าอะไรคือ “ผิดปกติ”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651760" cy="361188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2651760" cy="603504"/>
          </a:xfrm>
          <a:prstGeom prst="roundRect">
            <a:avLst>
              <a:gd name="adj" fmla="val 21212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2651760" cy="23774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95528" y="178308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0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HOW</a:t>
            </a:r>
          </a:p>
        </p:txBody>
      </p:sp>
      <p:pic>
        <p:nvPicPr>
          <p:cNvPr id="10" name="Picture 9" descr="descriptio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938528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8" y="2560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SOP / WI / Standard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9718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วิธีปฏิบัติที่ถูกต้องและเหมือนกันทุกคน ทุกกะ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590288"/>
            <a:ext cx="51215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80839" y="4590288"/>
            <a:ext cx="826719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Key 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0711" y="4590288"/>
            <a:ext cx="591096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Photo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7969" y="1783080"/>
            <a:ext cx="2651760" cy="361188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407969" y="1783080"/>
            <a:ext cx="2651760" cy="603504"/>
          </a:xfrm>
          <a:prstGeom prst="roundRect">
            <a:avLst>
              <a:gd name="adj" fmla="val 21212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3407969" y="2148840"/>
            <a:ext cx="2651760" cy="23774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09137" y="178308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0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WHAT</a:t>
            </a:r>
          </a:p>
        </p:txBody>
      </p:sp>
      <p:pic>
        <p:nvPicPr>
          <p:cNvPr id="20" name="Picture 19" descr="tu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6809" y="1938528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09137" y="2560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Control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9137" y="29718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ค่าหรือเงื่อนไขที่ต้องควบคุม เช่น อุณหภูมิ ความดัน ความสมบูรณ์ของซีล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9137" y="4590288"/>
            <a:ext cx="55136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Temp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33651" y="4590288"/>
            <a:ext cx="77470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1505" y="4590288"/>
            <a:ext cx="496428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1578" y="1783080"/>
            <a:ext cx="2651760" cy="361188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221578" y="1783080"/>
            <a:ext cx="2651760" cy="603504"/>
          </a:xfrm>
          <a:prstGeom prst="roundRect">
            <a:avLst>
              <a:gd name="adj" fmla="val 21212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221578" y="2148840"/>
            <a:ext cx="2651760" cy="23774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22746" y="178308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0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IF ABNORMAL</a:t>
            </a:r>
          </a:p>
        </p:txBody>
      </p:sp>
      <p:pic>
        <p:nvPicPr>
          <p:cNvPr id="30" name="Picture 29" descr="emergency_hom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418" y="1938528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422746" y="2560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Reaction 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22746" y="29718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สิ่งที่ต้องทำเมื่อผลตรวจไม่ผ่าน: หยุด แจ้ง แยก หรือเพิ่มการตรวจ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2746" y="4590288"/>
            <a:ext cx="514430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Stop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10328" y="4590288"/>
            <a:ext cx="61017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Notify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93651" y="4590288"/>
            <a:ext cx="868204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Segregate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5186" y="1783080"/>
            <a:ext cx="2651760" cy="361188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9035186" y="1783080"/>
            <a:ext cx="2651760" cy="603504"/>
          </a:xfrm>
          <a:prstGeom prst="roundRect">
            <a:avLst>
              <a:gd name="adj" fmla="val 21212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9035186" y="2148840"/>
            <a:ext cx="2651760" cy="23774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36354" y="1783080"/>
            <a:ext cx="1920240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0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LEADERS</a:t>
            </a:r>
          </a:p>
        </p:txBody>
      </p:sp>
      <p:pic>
        <p:nvPicPr>
          <p:cNvPr id="40" name="Picture 39" descr="badg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4026" y="1938528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236354" y="25603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Leader Standard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6354" y="29718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กิจกรรมบริหารประจำ: ทบทวน KPI ติดตามงานค้าง ลงตรวจหน้างาน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36354" y="4590288"/>
            <a:ext cx="911793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21299" y="4590288"/>
            <a:ext cx="657636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Gemba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6354" y="4919472"/>
            <a:ext cx="707382" cy="29260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577840"/>
            <a:ext cx="11000232" cy="685800"/>
          </a:xfrm>
          <a:prstGeom prst="roundRect">
            <a:avLst>
              <a:gd name="adj" fmla="val 18666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68680" y="557784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Good Standard</a:t>
            </a:r>
          </a:p>
        </p:txBody>
      </p:sp>
      <p:pic>
        <p:nvPicPr>
          <p:cNvPr id="48" name="Picture 47" descr="visibility_7FDB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5788152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429000" y="557784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มองเห็นได้</a:t>
            </a:r>
          </a:p>
        </p:txBody>
      </p:sp>
      <p:pic>
        <p:nvPicPr>
          <p:cNvPr id="50" name="Picture 49" descr="front_hand_7FDB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5788152"/>
            <a:ext cx="274320" cy="2743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77840" y="557784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ทำได้จริง</a:t>
            </a:r>
          </a:p>
        </p:txBody>
      </p:sp>
      <p:pic>
        <p:nvPicPr>
          <p:cNvPr id="52" name="Picture 51" descr="straighten_7FDB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578815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726680" y="557784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วัดได้ชัด</a:t>
            </a:r>
          </a:p>
        </p:txBody>
      </p:sp>
      <p:pic>
        <p:nvPicPr>
          <p:cNvPr id="54" name="Picture 53" descr="verified_7FDB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5788152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875520" y="557784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ตรวจยืนยันได้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SAPPE Infinite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749808"/>
            <a:ext cx="1523548" cy="365760"/>
          </a:xfrm>
          <a:prstGeom prst="roundRect">
            <a:avLst>
              <a:gd name="adj" fmla="val 25000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Stabilize · S1–S6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55480" y="749808"/>
            <a:ext cx="1424785" cy="365760"/>
          </a:xfrm>
          <a:prstGeom prst="roundRect">
            <a:avLst>
              <a:gd name="adj" fmla="val 25000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Elevate · E1–E6</a:t>
            </a:r>
          </a:p>
        </p:txBody>
      </p:sp>
      <p:sp>
        <p:nvSpPr>
          <p:cNvPr id="7" name="Oval 6"/>
          <p:cNvSpPr/>
          <p:nvPr/>
        </p:nvSpPr>
        <p:spPr>
          <a:xfrm>
            <a:off x="3489808" y="2295144"/>
            <a:ext cx="2468880" cy="2468880"/>
          </a:xfrm>
          <a:prstGeom prst="ellipse">
            <a:avLst/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33008" y="2295144"/>
            <a:ext cx="2468880" cy="2468880"/>
          </a:xfrm>
          <a:prstGeom prst="ellipse">
            <a:avLst/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352648" y="2157984"/>
            <a:ext cx="2743200" cy="2743200"/>
          </a:xfrm>
          <a:prstGeom prst="ellipse">
            <a:avLst/>
          </a:prstGeom>
          <a:noFill/>
          <a:ln w="24130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Arc 9"/>
          <p:cNvSpPr/>
          <p:nvPr/>
        </p:nvSpPr>
        <p:spPr>
          <a:xfrm>
            <a:off x="6095848" y="2157984"/>
            <a:ext cx="2743200" cy="2743200"/>
          </a:xfrm>
          <a:prstGeom prst="arc">
            <a:avLst>
              <a:gd name="adj1" fmla="val 10800000"/>
              <a:gd name="adj2" fmla="val 0"/>
            </a:avLst>
          </a:prstGeom>
          <a:noFill/>
          <a:ln w="241300">
            <a:solidFill>
              <a:srgbClr val="1A6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6095848" y="2157984"/>
            <a:ext cx="2743200" cy="2743200"/>
          </a:xfrm>
          <a:prstGeom prst="arc">
            <a:avLst>
              <a:gd name="adj1" fmla="val 0"/>
              <a:gd name="adj2" fmla="val 10800000"/>
            </a:avLst>
          </a:prstGeom>
          <a:noFill/>
          <a:ln w="241300">
            <a:solidFill>
              <a:srgbClr val="EA6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16200000">
            <a:off x="4641952" y="48280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Isosceles Triangle 12"/>
          <p:cNvSpPr/>
          <p:nvPr/>
        </p:nvSpPr>
        <p:spPr>
          <a:xfrm rot="0">
            <a:off x="3270352" y="34564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Isosceles Triangle 13"/>
          <p:cNvSpPr/>
          <p:nvPr/>
        </p:nvSpPr>
        <p:spPr>
          <a:xfrm rot="5400000">
            <a:off x="4641952" y="20848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Isosceles Triangle 14"/>
          <p:cNvSpPr/>
          <p:nvPr/>
        </p:nvSpPr>
        <p:spPr>
          <a:xfrm rot="5400000">
            <a:off x="7385152" y="48280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Isosceles Triangle 15"/>
          <p:cNvSpPr/>
          <p:nvPr/>
        </p:nvSpPr>
        <p:spPr>
          <a:xfrm>
            <a:off x="8756752" y="34564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Isosceles Triangle 16"/>
          <p:cNvSpPr/>
          <p:nvPr/>
        </p:nvSpPr>
        <p:spPr>
          <a:xfrm rot="16200000">
            <a:off x="7385152" y="2084832"/>
            <a:ext cx="164592" cy="146304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809848" y="298094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0E8C6C"/>
                </a:solidFill>
                <a:latin typeface="Bai Jamjuree"/>
                <a:ea typeface="Bai Jamjuree"/>
                <a:cs typeface="Bai Jamjuree"/>
              </a:rPr>
              <a:t>Stabilize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9848" y="34198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รักษามาตรฐาน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848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S1–S6 · ทุกกะ / ทุกวัน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8" y="2980944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A66D9"/>
                </a:solidFill>
                <a:latin typeface="Bai Jamjuree"/>
                <a:ea typeface="Bai Jamjuree"/>
                <a:cs typeface="Bai Jamjuree"/>
              </a:rPr>
              <a:t>Elevate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8" y="3419856"/>
            <a:ext cx="1828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ยกระดับมาตรฐาน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048" y="37490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E1–E6 · ทำเป็นโครงการ</a:t>
            </a:r>
          </a:p>
        </p:txBody>
      </p:sp>
      <p:sp>
        <p:nvSpPr>
          <p:cNvPr id="24" name="Oval 23"/>
          <p:cNvSpPr/>
          <p:nvPr/>
        </p:nvSpPr>
        <p:spPr>
          <a:xfrm>
            <a:off x="5570068" y="3003804"/>
            <a:ext cx="1051560" cy="1051560"/>
          </a:xfrm>
          <a:prstGeom prst="ellipse">
            <a:avLst/>
          </a:prstGeom>
          <a:solidFill>
            <a:srgbClr val="F7D9D2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02656" y="3136392"/>
            <a:ext cx="786384" cy="786384"/>
          </a:xfrm>
          <a:prstGeom prst="ellipse">
            <a:avLst/>
          </a:prstGeom>
          <a:gradFill rotWithShape="1">
            <a:gsLst>
              <a:gs pos="0">
                <a:srgbClr val="E5533D"/>
              </a:gs>
              <a:gs pos="100000">
                <a:srgbClr val="B32A17"/>
              </a:gs>
            </a:gsLst>
            <a:lin scaled="0" ang="2700000"/>
          </a:gra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N</a:t>
            </a:r>
          </a:p>
        </p:txBody>
      </p:sp>
      <p:sp>
        <p:nvSpPr>
          <p:cNvPr id="26" name="Oval 25"/>
          <p:cNvSpPr/>
          <p:nvPr/>
        </p:nvSpPr>
        <p:spPr>
          <a:xfrm>
            <a:off x="5254933" y="4397101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9405" y="4964029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Confirm Basic Condition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ยืนยันสภาพพื้นฐาน</a:t>
            </a:r>
          </a:p>
        </p:txBody>
      </p:sp>
      <p:sp>
        <p:nvSpPr>
          <p:cNvPr id="28" name="Oval 27"/>
          <p:cNvSpPr/>
          <p:nvPr/>
        </p:nvSpPr>
        <p:spPr>
          <a:xfrm>
            <a:off x="3681498" y="4397101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5970" y="4964029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Deploy KPI &amp; Ownership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วาง KPI และผู้รับผิดชอบ</a:t>
            </a:r>
          </a:p>
        </p:txBody>
      </p:sp>
      <p:sp>
        <p:nvSpPr>
          <p:cNvPr id="30" name="Oval 29"/>
          <p:cNvSpPr/>
          <p:nvPr/>
        </p:nvSpPr>
        <p:spPr>
          <a:xfrm>
            <a:off x="3156548" y="3674569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5996" y="3656281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Run Daily Performance Dialogue</a:t>
            </a:r>
          </a:p>
          <a:p>
            <a:pPr algn="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เวทีทบทวนประจำกะ / วัน</a:t>
            </a:r>
          </a:p>
        </p:txBody>
      </p:sp>
      <p:sp>
        <p:nvSpPr>
          <p:cNvPr id="32" name="Oval 31"/>
          <p:cNvSpPr/>
          <p:nvPr/>
        </p:nvSpPr>
        <p:spPr>
          <a:xfrm>
            <a:off x="3156548" y="2872535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96" y="2854247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Read Real-Time Variation</a:t>
            </a:r>
          </a:p>
          <a:p>
            <a:pPr algn="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อ่านความผันผวนจริง</a:t>
            </a:r>
          </a:p>
        </p:txBody>
      </p:sp>
      <p:sp>
        <p:nvSpPr>
          <p:cNvPr id="34" name="Oval 33"/>
          <p:cNvSpPr/>
          <p:nvPr/>
        </p:nvSpPr>
        <p:spPr>
          <a:xfrm>
            <a:off x="3681498" y="2150003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5970" y="1509923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Eliminate Bad Days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กำจัดวันหลุดเป้า</a:t>
            </a:r>
          </a:p>
        </p:txBody>
      </p:sp>
      <p:sp>
        <p:nvSpPr>
          <p:cNvPr id="36" name="Oval 35"/>
          <p:cNvSpPr/>
          <p:nvPr/>
        </p:nvSpPr>
        <p:spPr>
          <a:xfrm>
            <a:off x="5254933" y="2150003"/>
            <a:ext cx="512064" cy="512064"/>
          </a:xfrm>
          <a:prstGeom prst="ellipse">
            <a:avLst/>
          </a:prstGeom>
          <a:solidFill>
            <a:srgbClr val="0E8C6C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9405" y="1509923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Update &amp; Confirm Standard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อัปเดต / ยืนยันมาตรฐาน</a:t>
            </a:r>
          </a:p>
        </p:txBody>
      </p:sp>
      <p:sp>
        <p:nvSpPr>
          <p:cNvPr id="38" name="Oval 37"/>
          <p:cNvSpPr/>
          <p:nvPr/>
        </p:nvSpPr>
        <p:spPr>
          <a:xfrm>
            <a:off x="6424698" y="4397101"/>
            <a:ext cx="512064" cy="512064"/>
          </a:xfrm>
          <a:prstGeom prst="ellipse">
            <a:avLst/>
          </a:prstGeom>
          <a:solidFill>
            <a:srgbClr val="1A66D9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7810" y="4964029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Align to Loss Tree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เชื่อม Loss Tree / นโยบาย</a:t>
            </a:r>
          </a:p>
        </p:txBody>
      </p:sp>
      <p:sp>
        <p:nvSpPr>
          <p:cNvPr id="40" name="Oval 39"/>
          <p:cNvSpPr/>
          <p:nvPr/>
        </p:nvSpPr>
        <p:spPr>
          <a:xfrm>
            <a:off x="7998133" y="4397101"/>
            <a:ext cx="512064" cy="512064"/>
          </a:xfrm>
          <a:prstGeom prst="ellipse">
            <a:avLst/>
          </a:prstGeom>
          <a:solidFill>
            <a:srgbClr val="EA6A1F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1245" y="4964029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Identify &amp; Screen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ค้นหาและคัดกรองโอกาส</a:t>
            </a:r>
          </a:p>
        </p:txBody>
      </p:sp>
      <p:sp>
        <p:nvSpPr>
          <p:cNvPr id="42" name="Oval 41"/>
          <p:cNvSpPr/>
          <p:nvPr/>
        </p:nvSpPr>
        <p:spPr>
          <a:xfrm>
            <a:off x="8523083" y="3674569"/>
            <a:ext cx="512064" cy="512064"/>
          </a:xfrm>
          <a:prstGeom prst="ellipse">
            <a:avLst/>
          </a:prstGeom>
          <a:solidFill>
            <a:srgbClr val="EA6A1F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08299" y="3656281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Define Project &amp; Charter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นิยามโครงการ / Charter</a:t>
            </a:r>
          </a:p>
        </p:txBody>
      </p:sp>
      <p:sp>
        <p:nvSpPr>
          <p:cNvPr id="44" name="Oval 43"/>
          <p:cNvSpPr/>
          <p:nvPr/>
        </p:nvSpPr>
        <p:spPr>
          <a:xfrm>
            <a:off x="8523083" y="2872535"/>
            <a:ext cx="512064" cy="512064"/>
          </a:xfrm>
          <a:prstGeom prst="ellipse">
            <a:avLst/>
          </a:prstGeom>
          <a:solidFill>
            <a:srgbClr val="EA6A1F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8299" y="2854247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Prioritize by Value &amp; Class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จัดลำดับตามมูลค่า A/B/C</a:t>
            </a:r>
          </a:p>
        </p:txBody>
      </p:sp>
      <p:sp>
        <p:nvSpPr>
          <p:cNvPr id="46" name="Oval 45"/>
          <p:cNvSpPr/>
          <p:nvPr/>
        </p:nvSpPr>
        <p:spPr>
          <a:xfrm>
            <a:off x="7998133" y="2150003"/>
            <a:ext cx="512064" cy="512064"/>
          </a:xfrm>
          <a:prstGeom prst="ellipse">
            <a:avLst/>
          </a:prstGeom>
          <a:solidFill>
            <a:srgbClr val="1A66D9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1245" y="1509923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Select Method &amp; Plan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เลือกวิธีและวางแผน</a:t>
            </a:r>
          </a:p>
        </p:txBody>
      </p:sp>
      <p:sp>
        <p:nvSpPr>
          <p:cNvPr id="48" name="Oval 47"/>
          <p:cNvSpPr/>
          <p:nvPr/>
        </p:nvSpPr>
        <p:spPr>
          <a:xfrm>
            <a:off x="6424698" y="2150003"/>
            <a:ext cx="512064" cy="512064"/>
          </a:xfrm>
          <a:prstGeom prst="ellipse">
            <a:avLst/>
          </a:prstGeom>
          <a:solidFill>
            <a:srgbClr val="1A66D9"/>
          </a:solidFill>
          <a:ln w="3175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7810" y="1509923"/>
            <a:ext cx="1554480" cy="56692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Manage Pipeline</a:t>
            </a:r>
          </a:p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บริหารพอร์ตโครงการ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5650992"/>
            <a:ext cx="3666744" cy="658368"/>
          </a:xfrm>
          <a:prstGeom prst="roundRect">
            <a:avLst>
              <a:gd name="adj" fmla="val 16666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777240" y="5806440"/>
            <a:ext cx="402336" cy="402336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2" name="Picture 51" descr="bar_char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6" y="5896966"/>
            <a:ext cx="221285" cy="2212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307592" y="572414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Stabilize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07592" y="5998464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วันนี้ทำได้ตามมาตรฐานหรือยัง?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61104" y="5650992"/>
            <a:ext cx="3666744" cy="658368"/>
          </a:xfrm>
          <a:prstGeom prst="rect">
            <a:avLst/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4443984" y="5806440"/>
            <a:ext cx="402336" cy="402336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hub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4510" y="5896966"/>
            <a:ext cx="221285" cy="22128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74336" y="572414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Node · Standard &amp; Replication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74336" y="5998464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B1: S6 → N → E1  ·  B2: E6 → N → S1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927848" y="5650992"/>
            <a:ext cx="3666744" cy="658368"/>
          </a:xfrm>
          <a:prstGeom prst="roundRect">
            <a:avLst>
              <a:gd name="adj" fmla="val 16666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8110728" y="5806440"/>
            <a:ext cx="402336" cy="402336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ads_cli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254" y="5896966"/>
            <a:ext cx="221285" cy="221285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641080" y="572414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Elevate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41080" y="5998464"/>
            <a:ext cx="2843784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ยกระดับมาตรฐานเรื่องใด ด้วยโครงการใด?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Three Modes of Work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ทั้งสามเชื่อมกัน แต่ใช้วิธีและจังหวะเวลาต่างกัน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310128" cy="3977640"/>
          </a:xfrm>
          <a:prstGeom prst="roundRect">
            <a:avLst>
              <a:gd name="adj" fmla="val 4972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50392" y="2039112"/>
            <a:ext cx="1350865" cy="310896"/>
          </a:xfrm>
          <a:prstGeom prst="roundRect">
            <a:avLst>
              <a:gd name="adj" fmla="val 50000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Stabilize · S1–S6</a:t>
            </a:r>
          </a:p>
        </p:txBody>
      </p:sp>
      <p:pic>
        <p:nvPicPr>
          <p:cNvPr id="8" name="Picture 7" descr="calendar_month_0E8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020824"/>
            <a:ext cx="347472" cy="3474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2514600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Daily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2608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ควบคุมสภาพปกติ แก้ความผิดปกติประจำวัน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3794760"/>
            <a:ext cx="27980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Example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CIL ไม่ครบ → ทำให้ครบก่อนเริ่มกะ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91032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Cadence: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ทุกกะ / ทุกวัน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257800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หน้างาน / พื้นที่</a:t>
            </a:r>
          </a:p>
        </p:txBody>
      </p:sp>
      <p:pic>
        <p:nvPicPr>
          <p:cNvPr id="14" name="Picture 13" descr="arrow_forward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9644" y="3506724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90772" y="38633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B1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1783080"/>
            <a:ext cx="3310128" cy="3977640"/>
          </a:xfrm>
          <a:prstGeom prst="roundRect">
            <a:avLst>
              <a:gd name="adj" fmla="val 4972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81728" y="2039112"/>
            <a:ext cx="809091" cy="310896"/>
          </a:xfrm>
          <a:prstGeom prst="roundRect">
            <a:avLst>
              <a:gd name="adj" fmla="val 50000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Node · N</a:t>
            </a:r>
          </a:p>
        </p:txBody>
      </p:sp>
      <p:pic>
        <p:nvPicPr>
          <p:cNvPr id="18" name="Picture 17" descr="hub_C836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020824"/>
            <a:ext cx="347472" cy="3474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81728" y="2514600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Structured Problem Solving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292608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จัดการปัญหาสำคัญหรือปัญหาซ้ำด้วย RCA / BDA แล้วยืนยันเป็นมาตรฐาน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8" y="3794760"/>
            <a:ext cx="27980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Example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เครื่องหยุดอาการเดิมซ้ำ → เปิด 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491032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Cadence: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ตามเกณฑ์ที่กำหนด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5257800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เจ้าของปัญหา / ทีม RCA</a:t>
            </a:r>
          </a:p>
        </p:txBody>
      </p:sp>
      <p:pic>
        <p:nvPicPr>
          <p:cNvPr id="24" name="Picture 23" descr="sync_alt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3506724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22108" y="38633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B2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57032" y="1783080"/>
            <a:ext cx="3310128" cy="3977640"/>
          </a:xfrm>
          <a:prstGeom prst="roundRect">
            <a:avLst>
              <a:gd name="adj" fmla="val 4972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8513064" y="2039112"/>
            <a:ext cx="1260333" cy="310896"/>
          </a:xfrm>
          <a:prstGeom prst="roundRect">
            <a:avLst>
              <a:gd name="adj" fmla="val 50000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Elevate · E1–E6</a:t>
            </a:r>
          </a:p>
        </p:txBody>
      </p:sp>
      <p:pic>
        <p:nvPicPr>
          <p:cNvPr id="28" name="Picture 27" descr="rocket_launch_1A66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2020824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13064" y="2514600"/>
            <a:ext cx="2944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Improvement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2926080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เปลี่ยนความสามารถของกระบวนการอย่างมีนัยสำคัญ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13064" y="3794760"/>
            <a:ext cx="2798064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Example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ลด Changeover Loss ทั้งไลน์ → FI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3064" y="4910328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Cadence: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เป็นโครงการ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3064" y="5257800"/>
            <a:ext cx="29443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Owner: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FI Pillar / ทีมโครงการ</a:t>
            </a:r>
          </a:p>
        </p:txBody>
      </p:sp>
      <p:pic>
        <p:nvPicPr>
          <p:cNvPr id="34" name="Picture 33" descr="keyboard_return_C8361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5934456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05840" y="5897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มาตรฐานใหม่จาก RCA หรือโครงการ กลับมาที่ S1 ผ่าน B2 Handover — DMS ติดตามต่อ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The 5 Components of 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ระบบเดียว ห้าองค์ประกอบ — ทุกองค์ประกอบตอบคำถามสำคัญหนึ่งข้อ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11000232" cy="502920"/>
          </a:xfrm>
          <a:prstGeom prst="roundRect">
            <a:avLst>
              <a:gd name="adj" fmla="val 18181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Stable Operation  ·  ผลลัพธ์คงที่ทุกวัน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59152"/>
            <a:ext cx="2075688" cy="3291840"/>
          </a:xfrm>
          <a:prstGeom prst="roundRect">
            <a:avLst>
              <a:gd name="adj" fmla="val 6167"/>
            </a:avLst>
          </a:prstGeom>
          <a:gradFill rotWithShape="1">
            <a:gsLst>
              <a:gs pos="0">
                <a:srgbClr val="0E8C6C"/>
              </a:gs>
              <a:gs pos="100000">
                <a:srgbClr val="0B5A45"/>
              </a:gs>
            </a:gsLst>
            <a:lin scaled="0" ang="54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ccount_tre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87752"/>
            <a:ext cx="402336" cy="402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8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7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346704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KPI Cascade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95935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เป้าหมายที่เชื่อมกันทุกระดับ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4782312"/>
            <a:ext cx="1746504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hel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901184"/>
            <a:ext cx="201168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4828032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เป้าหมายของเรา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คืออะไร?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8356" y="2359152"/>
            <a:ext cx="2075688" cy="3291840"/>
          </a:xfrm>
          <a:prstGeom prst="roundRect">
            <a:avLst>
              <a:gd name="adj" fmla="val 6167"/>
            </a:avLst>
          </a:prstGeom>
          <a:gradFill rotWithShape="1">
            <a:gsLst>
              <a:gs pos="0">
                <a:srgbClr val="1A66D9"/>
              </a:gs>
              <a:gs pos="100000">
                <a:srgbClr val="0D3E8F"/>
              </a:gs>
            </a:gsLst>
            <a:lin scaled="0" ang="54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roup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524" y="2587752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49524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7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9524" y="3346704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Purposeful Meeting 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9524" y="395935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ประชุมตามหน้าที่และช่วงเวลา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2948" y="4782312"/>
            <a:ext cx="1746504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hel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2676" y="4901184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396996" y="4828032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วันนี้ต้องตัดสินใจ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เรื่องอะไร?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2359152"/>
            <a:ext cx="2075688" cy="3291840"/>
          </a:xfrm>
          <a:prstGeom prst="roundRect">
            <a:avLst>
              <a:gd name="adj" fmla="val 6167"/>
            </a:avLst>
          </a:prstGeom>
          <a:gradFill rotWithShape="1">
            <a:gsLst>
              <a:gs pos="0">
                <a:srgbClr val="D9730D"/>
              </a:gs>
              <a:gs pos="100000">
                <a:srgbClr val="9A4A05"/>
              </a:gs>
            </a:gsLst>
            <a:lin scaled="0" ang="54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notification_importan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87752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03520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7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346704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Deviation &amp; Escalation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95935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เห็นปัญหาและส่งต่อทันเวลา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4782312"/>
            <a:ext cx="1746504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hel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4901184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650992" y="4828032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อะไรผิดไปจาก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มาตรฐาน?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6348" y="2359152"/>
            <a:ext cx="2075688" cy="3291840"/>
          </a:xfrm>
          <a:prstGeom prst="roundRect">
            <a:avLst>
              <a:gd name="adj" fmla="val 6167"/>
            </a:avLst>
          </a:prstGeom>
          <a:gradFill rotWithShape="1">
            <a:gsLst>
              <a:gs pos="0">
                <a:srgbClr val="C8361F"/>
              </a:gs>
              <a:gs pos="100000">
                <a:srgbClr val="8E2414"/>
              </a:gs>
            </a:gsLst>
            <a:lin scaled="0" ang="54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roubleshoo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7516" y="2587752"/>
            <a:ext cx="402336" cy="40233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557516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7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7516" y="3346704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RCA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7516" y="395935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กำจัดสาเหตุของปัญหาสำคัญหรือปัญหาซ้ำ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20940" y="4782312"/>
            <a:ext cx="1746504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hel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0668" y="4901184"/>
            <a:ext cx="201168" cy="20116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904988" y="4828032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ทำไมปัญหาจึง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เกิดซ้ำ?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10344" y="2359152"/>
            <a:ext cx="2075688" cy="3291840"/>
          </a:xfrm>
          <a:prstGeom prst="roundRect">
            <a:avLst>
              <a:gd name="adj" fmla="val 6167"/>
            </a:avLst>
          </a:prstGeom>
          <a:gradFill rotWithShape="1">
            <a:gsLst>
              <a:gs pos="0">
                <a:srgbClr val="3F51B5"/>
              </a:gs>
              <a:gs pos="100000">
                <a:srgbClr val="27347E"/>
              </a:gs>
            </a:gsLst>
            <a:lin scaled="0" ang="54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fact_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1512" y="2587752"/>
            <a:ext cx="402336" cy="40233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811512" y="3108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7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3346704"/>
            <a:ext cx="1755648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1512" y="3959352"/>
            <a:ext cx="1755648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ยืนยันว่ามาตรฐานเกิดขึ้นจริงที่หน้างาน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74936" y="4782312"/>
            <a:ext cx="1746504" cy="713232"/>
          </a:xfrm>
          <a:prstGeom prst="roundRect">
            <a:avLst>
              <a:gd name="adj" fmla="val 1282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help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4901184"/>
            <a:ext cx="201168" cy="2011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58984" y="4828032"/>
            <a:ext cx="1344168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มาตรฐานถูกทำ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จริงหรือไม่?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769864"/>
            <a:ext cx="11000232" cy="502920"/>
          </a:xfrm>
          <a:prstGeom prst="roundRect">
            <a:avLst>
              <a:gd name="adj" fmla="val 18181"/>
            </a:avLst>
          </a:prstGeom>
          <a:solidFill>
            <a:srgbClr val="DEE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Foundation  ·  SOP / WI  ·  Control Point  ·  Reaction Plan  ·  Leader Standard Work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PART 00 · STABILIZE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5 Components on the Stabilize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DMS คือเครื่องยนต์ที่หมุนวง S1–S6 ทุกกะ ทุกวัน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95528" y="1984248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01168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Basic Condition &amp; Standard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791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ยืนยันสภาพพื้นฐานและมาตรฐาน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27248"/>
            <a:ext cx="1781776" cy="292608"/>
          </a:xfrm>
          <a:prstGeom prst="roundRect">
            <a:avLst>
              <a:gd name="adj" fmla="val 5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05 Process Confirmation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1396" y="1783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12564" y="1984248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4084" y="201168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Deploy KPI Cascade &amp;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9996" y="26791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วาง KPI และผู้รับผิดชอบ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6" y="3127248"/>
            <a:ext cx="1187296" cy="29260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01 KPI Cascade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1783080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29600" y="1984248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011680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Run Daily Performance Dialogue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6791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เวทีทบทวนประจำกะ / วัน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2" y="3127248"/>
            <a:ext cx="2008992" cy="292608"/>
          </a:xfrm>
          <a:prstGeom prst="roundRect">
            <a:avLst>
              <a:gd name="adj" fmla="val 50000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02 Purposeful Meeting (SIM)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30752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95528" y="3931920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7048" y="395935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Read Real-Time Variation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62686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อ่านความผันผวนจริง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074920"/>
            <a:ext cx="1856859" cy="292608"/>
          </a:xfrm>
          <a:prstGeom prst="roundRect">
            <a:avLst>
              <a:gd name="adj" fmla="val 5000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Deviation &amp; Escalation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1396" y="3730752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512564" y="3931920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4084" y="395935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Eliminate Bad Days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9996" y="462686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กำจัดวันหลุดเป้า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39996" y="5074920"/>
            <a:ext cx="1856859" cy="292608"/>
          </a:xfrm>
          <a:prstGeom prst="roundRect">
            <a:avLst>
              <a:gd name="adj" fmla="val 5000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Deviation &amp; Escalation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0007" y="5074920"/>
            <a:ext cx="692307" cy="292608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04 RCA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2" y="3730752"/>
            <a:ext cx="3566160" cy="1783080"/>
          </a:xfrm>
          <a:prstGeom prst="roundRect">
            <a:avLst>
              <a:gd name="adj" fmla="val 7179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29600" y="3931920"/>
            <a:ext cx="603504" cy="60350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S6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959352"/>
            <a:ext cx="251460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Update &amp; Confirm Standard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462686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อัปเดตและยืนยันมาตรฐาน → ส่งต่อ Node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57032" y="5074920"/>
            <a:ext cx="692307" cy="292608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04 RCA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22491" y="5074920"/>
            <a:ext cx="1781776" cy="292608"/>
          </a:xfrm>
          <a:prstGeom prst="roundRect">
            <a:avLst>
              <a:gd name="adj" fmla="val 50000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05 Process Confirmation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669280"/>
            <a:ext cx="11000232" cy="594360"/>
          </a:xfrm>
          <a:prstGeom prst="roundRect">
            <a:avLst>
              <a:gd name="adj" fmla="val 15384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95528" y="566928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Coverage</a:t>
            </a:r>
          </a:p>
        </p:txBody>
      </p:sp>
      <p:sp>
        <p:nvSpPr>
          <p:cNvPr id="40" name="Oval 39"/>
          <p:cNvSpPr/>
          <p:nvPr/>
        </p:nvSpPr>
        <p:spPr>
          <a:xfrm>
            <a:off x="2029968" y="5875020"/>
            <a:ext cx="182880" cy="182880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000" y="5669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01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→ S2</a:t>
            </a:r>
          </a:p>
        </p:txBody>
      </p:sp>
      <p:sp>
        <p:nvSpPr>
          <p:cNvPr id="42" name="Oval 41"/>
          <p:cNvSpPr/>
          <p:nvPr/>
        </p:nvSpPr>
        <p:spPr>
          <a:xfrm>
            <a:off x="3968496" y="5875020"/>
            <a:ext cx="182880" cy="182880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224528" y="5669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02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→ S3</a:t>
            </a:r>
          </a:p>
        </p:txBody>
      </p:sp>
      <p:sp>
        <p:nvSpPr>
          <p:cNvPr id="44" name="Oval 43"/>
          <p:cNvSpPr/>
          <p:nvPr/>
        </p:nvSpPr>
        <p:spPr>
          <a:xfrm>
            <a:off x="5907024" y="5875020"/>
            <a:ext cx="182880" cy="182880"/>
          </a:xfrm>
          <a:prstGeom prst="ellipse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63056" y="5669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→ S4 · S5</a:t>
            </a:r>
          </a:p>
        </p:txBody>
      </p:sp>
      <p:sp>
        <p:nvSpPr>
          <p:cNvPr id="46" name="Oval 45"/>
          <p:cNvSpPr/>
          <p:nvPr/>
        </p:nvSpPr>
        <p:spPr>
          <a:xfrm>
            <a:off x="7845552" y="5875020"/>
            <a:ext cx="182880" cy="182880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01584" y="5669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04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→ S5 · S6</a:t>
            </a:r>
          </a:p>
        </p:txBody>
      </p:sp>
      <p:sp>
        <p:nvSpPr>
          <p:cNvPr id="48" name="Oval 47"/>
          <p:cNvSpPr/>
          <p:nvPr/>
        </p:nvSpPr>
        <p:spPr>
          <a:xfrm>
            <a:off x="9784080" y="5875020"/>
            <a:ext cx="182880" cy="182880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040112" y="566928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05 </a:t>
            </a: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→ S1 · S6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End-to-End Example: Seal Defect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กรณีสมมติ: ซีลซองไม่สมบูรณ์สูงกว่าเป้าหมายในสายบรรจุ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2350008"/>
            <a:ext cx="10268712" cy="0"/>
          </a:xfrm>
          <a:prstGeom prst="line">
            <a:avLst/>
          </a:prstGeom>
          <a:ln w="254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1783080"/>
            <a:ext cx="2075688" cy="64008"/>
          </a:xfrm>
          <a:prstGeom prst="roundRect">
            <a:avLst>
              <a:gd name="adj" fmla="val 42857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303020" y="202082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0E8C6C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enso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153" y="2168957"/>
            <a:ext cx="362102" cy="3621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807208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1 ·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KPI Cascade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02152"/>
            <a:ext cx="189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KPI ระดับไลน์แสดง Defect ซีลสูงกว่าเป้า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26280"/>
            <a:ext cx="2075688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594360" y="4526280"/>
            <a:ext cx="2075688" cy="329184"/>
          </a:xfrm>
          <a:prstGeom prst="roundRect">
            <a:avLst>
              <a:gd name="adj" fmla="val 38888"/>
            </a:avLst>
          </a:prstGeom>
          <a:solidFill>
            <a:srgbClr val="0E8C6C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4360" y="4526280"/>
            <a:ext cx="207568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spc="20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892040"/>
            <a:ext cx="1856232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ขึ้นสีแดง</a:t>
            </a:r>
          </a:p>
        </p:txBody>
      </p:sp>
      <p:pic>
        <p:nvPicPr>
          <p:cNvPr id="17" name="Picture 16" descr="chevron_right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330" y="4965192"/>
            <a:ext cx="237744" cy="23774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848356" y="1783080"/>
            <a:ext cx="2075688" cy="64008"/>
          </a:xfrm>
          <a:prstGeom prst="roundRect">
            <a:avLst>
              <a:gd name="adj" fmla="val 42857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3557016" y="202082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D9730D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emergency_hom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149" y="2168957"/>
            <a:ext cx="362102" cy="36210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848356" y="2807208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2 · Respond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8356" y="31546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D9730D"/>
                </a:solidFill>
                <a:latin typeface="Bai Jamjuree SemiBold"/>
                <a:ea typeface="Bai Jamjuree SemiBold"/>
                <a:cs typeface="Bai Jamjuree SemiBold"/>
              </a:rPr>
              <a:t>Deviation &amp;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796" y="3502152"/>
            <a:ext cx="189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ทำตาม Reaction Plan ควบคุมผลิตภัณฑ์ แจ้ง และยกระดับตามเกณฑ์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48356" y="4526280"/>
            <a:ext cx="2075688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848356" y="4526280"/>
            <a:ext cx="2075688" cy="329184"/>
          </a:xfrm>
          <a:prstGeom prst="roundRect">
            <a:avLst>
              <a:gd name="adj" fmla="val 38888"/>
            </a:avLst>
          </a:prstGeom>
          <a:solidFill>
            <a:srgbClr val="D9730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848356" y="4526280"/>
            <a:ext cx="207568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spc="200">
                <a:solidFill>
                  <a:srgbClr val="D9730D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58084" y="4892040"/>
            <a:ext cx="1856232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สินค้าถูกควบคุม · แจ้งแล้ว</a:t>
            </a:r>
          </a:p>
        </p:txBody>
      </p:sp>
      <p:pic>
        <p:nvPicPr>
          <p:cNvPr id="28" name="Picture 27" descr="chevron_right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326" y="4965192"/>
            <a:ext cx="237744" cy="23774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102352" y="1783080"/>
            <a:ext cx="2075688" cy="64008"/>
          </a:xfrm>
          <a:prstGeom prst="roundRect">
            <a:avLst>
              <a:gd name="adj" fmla="val 42857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811012" y="202082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1A66D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group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145" y="2168957"/>
            <a:ext cx="362102" cy="3621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02352" y="2807208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3 ·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31546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Purposeful Meeting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3502152"/>
            <a:ext cx="189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SIM ติดตามผลกระทบ สถานะการควบคุม และผู้รับผิดชอบ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02352" y="4526280"/>
            <a:ext cx="2075688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5102352" y="4526280"/>
            <a:ext cx="2075688" cy="329184"/>
          </a:xfrm>
          <a:prstGeom prst="roundRect">
            <a:avLst>
              <a:gd name="adj" fmla="val 38888"/>
            </a:avLst>
          </a:prstGeom>
          <a:solidFill>
            <a:srgbClr val="1A66D9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102352" y="4526280"/>
            <a:ext cx="207568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spc="20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892040"/>
            <a:ext cx="1856232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มี Owner + Due</a:t>
            </a:r>
          </a:p>
        </p:txBody>
      </p:sp>
      <p:pic>
        <p:nvPicPr>
          <p:cNvPr id="39" name="Picture 38" descr="chevron_right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322" y="4965192"/>
            <a:ext cx="237744" cy="23774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356348" y="1783080"/>
            <a:ext cx="2075688" cy="64008"/>
          </a:xfrm>
          <a:prstGeom prst="roundRect">
            <a:avLst>
              <a:gd name="adj" fmla="val 42857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065008" y="202082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C8361F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troubleshoo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3141" y="2168957"/>
            <a:ext cx="362102" cy="36210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56348" y="2807208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4 · Solve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56348" y="31546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RCA Management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7788" y="3502152"/>
            <a:ext cx="189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เกิดซ้ำหรือเข้าเกณฑ์ → วิเคราะห์สาเหตุ กำหนดมาตรการถาวร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56348" y="4526280"/>
            <a:ext cx="2075688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7356348" y="4526280"/>
            <a:ext cx="2075688" cy="329184"/>
          </a:xfrm>
          <a:prstGeom prst="roundRect">
            <a:avLst>
              <a:gd name="adj" fmla="val 38888"/>
            </a:avLst>
          </a:prstGeom>
          <a:solidFill>
            <a:srgbClr val="C8361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56348" y="4526280"/>
            <a:ext cx="207568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spc="20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66076" y="4892040"/>
            <a:ext cx="1856232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Root Cause + มาตรการถาวร</a:t>
            </a:r>
          </a:p>
        </p:txBody>
      </p:sp>
      <p:pic>
        <p:nvPicPr>
          <p:cNvPr id="50" name="Picture 49" descr="chevron_right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2318" y="4965192"/>
            <a:ext cx="237744" cy="237744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9610344" y="1783080"/>
            <a:ext cx="2075688" cy="64008"/>
          </a:xfrm>
          <a:prstGeom prst="roundRect">
            <a:avLst>
              <a:gd name="adj" fmla="val 42857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10319004" y="2020824"/>
            <a:ext cx="658368" cy="658368"/>
          </a:xfrm>
          <a:prstGeom prst="roundRect">
            <a:avLst>
              <a:gd name="adj" fmla="val 19444"/>
            </a:avLst>
          </a:prstGeom>
          <a:solidFill>
            <a:srgbClr val="3F51B5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fact_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7137" y="2168957"/>
            <a:ext cx="362102" cy="36210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610344" y="2807208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5 · Sustain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0344" y="3154680"/>
            <a:ext cx="207568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01784" y="3502152"/>
            <a:ext cx="189280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หัวหน้างานยืนยันมาตรฐานใหม่ที่หน้างาน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610344" y="4526280"/>
            <a:ext cx="2075688" cy="1115568"/>
          </a:xfrm>
          <a:prstGeom prst="roundRect">
            <a:avLst>
              <a:gd name="adj" fmla="val 1147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9610344" y="4526280"/>
            <a:ext cx="2075688" cy="329184"/>
          </a:xfrm>
          <a:prstGeom prst="roundRect">
            <a:avLst>
              <a:gd name="adj" fmla="val 38888"/>
            </a:avLst>
          </a:prstGeom>
          <a:solidFill>
            <a:srgbClr val="3F51B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610344" y="4526280"/>
            <a:ext cx="2075688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spc="20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20072" y="4892040"/>
            <a:ext cx="1856232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PC ผ่าน · ไม่เกิดซ้ำ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5870448"/>
            <a:ext cx="11000232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ตัวอย่างสมมติเพื่อการอบรม — ลำดับการทำงานของ 5 องค์ประกอบต่อปัญหาเดียว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PART 00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DMS Improvement Cycles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80" y="713232"/>
            <a:ext cx="3410712" cy="457200"/>
          </a:xfrm>
          <a:prstGeom prst="roundRect">
            <a:avLst>
              <a:gd name="adj" fmla="val 50000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Target Condition:  </a:t>
            </a:r>
            <a:r>
              <a:rPr sz="1350" b="0">
                <a:solidFill>
                  <a:srgbClr val="FF9C85"/>
                </a:solidFill>
                <a:latin typeface="Bai Jamjuree SemiBold"/>
                <a:ea typeface="Bai Jamjuree SemiBold"/>
                <a:cs typeface="Bai Jamjuree SemiBold"/>
              </a:rPr>
              <a:t>No Deviation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Reactive Improvement Cycle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ตอบสนองเมื่อพบ Deviation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463040"/>
            <a:ext cx="2880360" cy="502920"/>
          </a:xfrm>
          <a:prstGeom prst="roundRect">
            <a:avLst>
              <a:gd name="adj" fmla="val 14545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Active Improvement Cycle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ป้องกันก่อนปัญหาเกิด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353312"/>
            <a:ext cx="3474720" cy="658368"/>
          </a:xfrm>
          <a:prstGeom prst="roundRect">
            <a:avLst>
              <a:gd name="adj" fmla="val 11111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Specifications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People Safety · Food Safety · Compliance · Product Specs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0288" y="221284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Standards &amp; Monitoring Plan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DCE8FF"/>
                </a:solidFill>
                <a:latin typeface="Bai Jamjuree"/>
                <a:ea typeface="Bai Jamjuree"/>
                <a:cs typeface="Bai Jamjuree"/>
              </a:rPr>
              <a:t>WI · OPL · Visuals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90288" y="294436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6EFFC"/>
          </a:solidFill>
          <a:ln w="15875">
            <a:solidFill>
              <a:srgbClr val="1A66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Shop Floor Sticks to Standard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ทำงานตาม WI · OPL · Visuals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288" y="3675888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DF0E1"/>
          </a:solidFill>
          <a:ln w="15875">
            <a:solidFill>
              <a:srgbClr val="D97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Deviation Observed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Safety · Quality · Process</a:t>
            </a:r>
          </a:p>
        </p:txBody>
      </p:sp>
      <p:sp>
        <p:nvSpPr>
          <p:cNvPr id="12" name="Diamond 11"/>
          <p:cNvSpPr/>
          <p:nvPr/>
        </p:nvSpPr>
        <p:spPr>
          <a:xfrm>
            <a:off x="5138928" y="4389120"/>
            <a:ext cx="1920240" cy="84124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D97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Action defined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in Standard?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011680"/>
            <a:ext cx="0" cy="201168"/>
          </a:xfrm>
          <a:prstGeom prst="line">
            <a:avLst/>
          </a:prstGeom>
          <a:ln w="19050">
            <a:solidFill>
              <a:srgbClr val="142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9048" y="2715768"/>
            <a:ext cx="0" cy="228600"/>
          </a:xfrm>
          <a:prstGeom prst="line">
            <a:avLst/>
          </a:prstGeom>
          <a:ln w="19050">
            <a:solidFill>
              <a:srgbClr val="142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9048" y="3447288"/>
            <a:ext cx="0" cy="228600"/>
          </a:xfrm>
          <a:prstGeom prst="line">
            <a:avLst/>
          </a:prstGeom>
          <a:ln w="19050">
            <a:solidFill>
              <a:srgbClr val="142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8" y="4178808"/>
            <a:ext cx="0" cy="210312"/>
          </a:xfrm>
          <a:prstGeom prst="line">
            <a:avLst/>
          </a:prstGeom>
          <a:ln w="19050">
            <a:solidFill>
              <a:srgbClr val="1427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31920" y="55595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E3F3EE"/>
          </a:solidFill>
          <a:ln w="15875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Take Corrective Action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Continue Operation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559552"/>
            <a:ext cx="2103120" cy="566928"/>
          </a:xfrm>
          <a:prstGeom prst="roundRect">
            <a:avLst>
              <a:gd name="adj" fmla="val 12903"/>
            </a:avLst>
          </a:prstGeom>
          <a:solidFill>
            <a:srgbClr val="FDF0E1"/>
          </a:solidFill>
          <a:ln w="15875">
            <a:solidFill>
              <a:srgbClr val="D973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NC / RCA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ตามกระบวนการที่ตกลงไว้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5230368"/>
            <a:ext cx="0" cy="146304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480" y="5376672"/>
            <a:ext cx="2240280" cy="0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83480" y="5376672"/>
            <a:ext cx="0" cy="182880"/>
          </a:xfrm>
          <a:prstGeom prst="line">
            <a:avLst/>
          </a:prstGeom>
          <a:ln w="19050">
            <a:solidFill>
              <a:srgbClr val="0E8C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223760" y="5376672"/>
            <a:ext cx="0" cy="182880"/>
          </a:xfrm>
          <a:prstGeom prst="line">
            <a:avLst/>
          </a:prstGeom>
          <a:ln w="19050">
            <a:solidFill>
              <a:srgbClr val="0E8C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72200" y="51755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2944368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FBE7E3"/>
          </a:solidFill>
          <a:ln w="15875">
            <a:solidFill>
              <a:srgbClr val="C83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Escalation Management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ส่งต่อถูกระดับ ทันเวลา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67328"/>
            <a:ext cx="2880360" cy="1188720"/>
          </a:xfrm>
          <a:prstGeom prst="roundRect">
            <a:avLst>
              <a:gd name="adj" fmla="val 6153"/>
            </a:avLst>
          </a:prstGeom>
          <a:solidFill>
            <a:srgbClr val="FBE7E3"/>
          </a:solidFill>
          <a:ln w="15875">
            <a:solidFill>
              <a:srgbClr val="C836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RCA Management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•  If Safety incident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•  If Product block</a:t>
            </a:r>
          </a:p>
          <a:p>
            <a:pPr algn="l">
              <a:spcAft>
                <a:spcPts val="0"/>
              </a:spcAft>
            </a:pPr>
            <a:r>
              <a:rPr sz="10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•  If Repetitive / Big breakdown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12848" y="3511296"/>
            <a:ext cx="0" cy="256032"/>
          </a:xfrm>
          <a:prstGeom prst="line">
            <a:avLst/>
          </a:prstGeom>
          <a:ln w="19050">
            <a:solidFill>
              <a:srgbClr val="C836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3931920" y="4809744"/>
            <a:ext cx="1207008" cy="0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31920" y="3227832"/>
            <a:ext cx="0" cy="1581912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3657600" y="3227832"/>
            <a:ext cx="274320" cy="0"/>
          </a:xfrm>
          <a:prstGeom prst="line">
            <a:avLst/>
          </a:prstGeom>
          <a:ln w="19050">
            <a:solidFill>
              <a:srgbClr val="C836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023360" y="457200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No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566928" y="4361688"/>
            <a:ext cx="210312" cy="0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66928" y="2459736"/>
            <a:ext cx="0" cy="1901952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66928" y="2459736"/>
            <a:ext cx="4023360" cy="0"/>
          </a:xfrm>
          <a:prstGeom prst="line">
            <a:avLst/>
          </a:prstGeom>
          <a:ln w="19050">
            <a:solidFill>
              <a:srgbClr val="C836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23760" y="6126480"/>
            <a:ext cx="0" cy="164592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212848" y="6291072"/>
            <a:ext cx="5010912" cy="0"/>
          </a:xfrm>
          <a:prstGeom prst="line">
            <a:avLst/>
          </a:prstGeom>
          <a:ln w="19050">
            <a:solidFill>
              <a:srgbClr val="C836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212848" y="4956048"/>
            <a:ext cx="0" cy="1335024"/>
          </a:xfrm>
          <a:prstGeom prst="line">
            <a:avLst/>
          </a:prstGeom>
          <a:ln w="19050">
            <a:solidFill>
              <a:srgbClr val="C836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549640" y="2907792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E3F3EE"/>
          </a:solidFill>
          <a:ln w="15875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Gemba Walk management system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49640" y="3703320"/>
            <a:ext cx="2880360" cy="566928"/>
          </a:xfrm>
          <a:prstGeom prst="roundRect">
            <a:avLst>
              <a:gd name="adj" fmla="val 12903"/>
            </a:avLst>
          </a:prstGeom>
          <a:solidFill>
            <a:srgbClr val="E3F3EE"/>
          </a:solidFill>
          <a:ln w="15875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Coaching · Training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Process Improvement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07808" y="3191256"/>
            <a:ext cx="941832" cy="0"/>
          </a:xfrm>
          <a:prstGeom prst="line">
            <a:avLst/>
          </a:prstGeom>
          <a:ln w="19050">
            <a:solidFill>
              <a:srgbClr val="0E8C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85248" y="3474720"/>
            <a:ext cx="0" cy="228600"/>
          </a:xfrm>
          <a:prstGeom prst="line">
            <a:avLst/>
          </a:prstGeom>
          <a:ln w="19050">
            <a:solidFill>
              <a:srgbClr val="0E8C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430000" y="3986784"/>
            <a:ext cx="201168" cy="0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1631168" y="2459736"/>
            <a:ext cx="0" cy="1527048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7607808" y="2459736"/>
            <a:ext cx="4023360" cy="0"/>
          </a:xfrm>
          <a:prstGeom prst="line">
            <a:avLst/>
          </a:prstGeom>
          <a:ln w="19050">
            <a:solidFill>
              <a:srgbClr val="0E8C6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549640" y="4617720"/>
            <a:ext cx="2880360" cy="1188720"/>
          </a:xfrm>
          <a:prstGeom prst="roundRect">
            <a:avLst>
              <a:gd name="adj" fmla="val 9230"/>
            </a:avLst>
          </a:prstGeom>
          <a:gradFill rotWithShape="1">
            <a:gsLst>
              <a:gs pos="0">
                <a:srgbClr val="14275A"/>
              </a:gs>
              <a:gs pos="100000">
                <a:srgbClr val="203A86"/>
              </a:gs>
            </a:gsLst>
            <a:lin scaled="0" ang="27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Supported by SIM 0–6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KPI Matrix ชัด · มีเจ้าของทุกประชุม · วาระชัด · มีกลไกติดตาม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5A45"/>
              </a:gs>
              <a:gs pos="100000">
                <a:srgbClr val="0E8C6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603504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5895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914400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0" y="141732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0" b="1">
                <a:solidFill>
                  <a:srgbClr val="FFFFFF">
                    <a:alpha val="20000"/>
                  </a:srgbClr>
                </a:solidFill>
                <a:latin typeface="Bai Jamjuree"/>
                <a:ea typeface="Bai Jamjuree"/>
                <a:cs typeface="Bai Jamjuree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9776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Stabilize Loop · 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300">
                <a:solidFill>
                  <a:srgbClr val="E8EEFA"/>
                </a:solidFill>
                <a:latin typeface="Bai Jamjuree SemiBold"/>
                <a:ea typeface="Bai Jamjuree SemiBold"/>
                <a:cs typeface="Bai Jamjuree SemiBold"/>
              </a:rPr>
              <a:t>COMPONENT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KPI 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เป้าหมายที่เชื่อมกันทุกระดับ — จากโรงงานถึงเครื่องจักร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138058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Cascade Levels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66389" y="3703320"/>
            <a:ext cx="158693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Leading &amp; Lagging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4766" y="3703320"/>
            <a:ext cx="122209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5 Build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8299" y="3703320"/>
            <a:ext cx="166712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Visual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8408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362456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746504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130552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06040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>
                    <a:alpha val="80000"/>
                  </a:srgbClr>
                </a:solidFill>
                <a:latin typeface="Bai Jamjuree"/>
                <a:ea typeface="Bai Jamjuree"/>
                <a:cs typeface="Bai Jamjuree"/>
              </a:rPr>
              <a:t>Component 1 of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 · 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KPI Cascade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ระดับบนมองผลรวม · ระดับล่างมองสิ่งที่ควบคุมได้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83080"/>
            <a:ext cx="3749040" cy="768096"/>
          </a:xfrm>
          <a:prstGeom prst="roundRect">
            <a:avLst>
              <a:gd name="adj" fmla="val 11904"/>
            </a:avLst>
          </a:prstGeom>
          <a:solidFill>
            <a:srgbClr val="0A4A3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15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PLANT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7F2E8"/>
                </a:solidFill>
                <a:latin typeface="Bai Jamjuree"/>
                <a:ea typeface="Bai Jamjuree"/>
                <a:cs typeface="Bai Jamjuree"/>
              </a:rPr>
              <a:t>OEE · Yield · Cost · Safety · Quality · Delivery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68780" y="2660904"/>
            <a:ext cx="4251960" cy="768096"/>
          </a:xfrm>
          <a:prstGeom prst="roundRect">
            <a:avLst>
              <a:gd name="adj" fmla="val 11904"/>
            </a:avLst>
          </a:prstGeom>
          <a:solidFill>
            <a:srgbClr val="0B5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15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DEPARTMENT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7F2E8"/>
                </a:solidFill>
                <a:latin typeface="Bai Jamjuree"/>
                <a:ea typeface="Bai Jamjuree"/>
                <a:cs typeface="Bai Jamjuree"/>
              </a:rPr>
              <a:t>ผลลัพธ์เฉพาะหน้าที่ของแผนก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3538728"/>
            <a:ext cx="4754880" cy="768096"/>
          </a:xfrm>
          <a:prstGeom prst="roundRect">
            <a:avLst>
              <a:gd name="adj" fmla="val 11904"/>
            </a:avLst>
          </a:prstGeom>
          <a:solidFill>
            <a:srgbClr val="0B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15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LINE / AREA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7F2E8"/>
                </a:solidFill>
                <a:latin typeface="Bai Jamjuree"/>
                <a:ea typeface="Bai Jamjuree"/>
                <a:cs typeface="Bai Jamjuree"/>
              </a:rPr>
              <a:t>Downtime · Waste · Output · Defect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65860" y="4416552"/>
            <a:ext cx="5257800" cy="768096"/>
          </a:xfrm>
          <a:prstGeom prst="roundRect">
            <a:avLst>
              <a:gd name="adj" fmla="val 11904"/>
            </a:avLst>
          </a:prstGeom>
          <a:solidFill>
            <a:srgbClr val="0D7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15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SHIFT / TEAM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7F2E8"/>
                </a:solidFill>
                <a:latin typeface="Bai Jamjuree"/>
                <a:ea typeface="Bai Jamjuree"/>
                <a:cs typeface="Bai Jamjuree"/>
              </a:rPr>
              <a:t>ความสูญเสียและความผิดปกติประจำกะ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294376"/>
            <a:ext cx="5760720" cy="768096"/>
          </a:xfrm>
          <a:prstGeom prst="roundRect">
            <a:avLst>
              <a:gd name="adj" fmla="val 1190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15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OPERATOR / MACHINE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D7F2E8"/>
                </a:solidFill>
                <a:latin typeface="Bai Jamjuree"/>
                <a:ea typeface="Bai Jamjuree"/>
                <a:cs typeface="Bai Jamjuree"/>
              </a:rPr>
              <a:t>ค่าควบคุมและมาตรฐานที่ทำได้จริง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1874520"/>
            <a:ext cx="0" cy="4160520"/>
          </a:xfrm>
          <a:prstGeom prst="line">
            <a:avLst/>
          </a:prstGeom>
          <a:ln w="19050">
            <a:solidFill>
              <a:srgbClr val="9AA8C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15727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ผลรวม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899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ควบคุมได้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783080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Every KPI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240280"/>
            <a:ext cx="2354580" cy="1298448"/>
          </a:xfrm>
          <a:prstGeom prst="roundRect">
            <a:avLst>
              <a:gd name="adj" fmla="val 985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ads_click_0E8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441448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2843784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154680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เป้าหมายชัด ตัวเลขเดียว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0012" y="2240280"/>
            <a:ext cx="2354580" cy="1298448"/>
          </a:xfrm>
          <a:prstGeom prst="roundRect">
            <a:avLst>
              <a:gd name="adj" fmla="val 985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person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612" y="2441448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612" y="2843784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8612" y="3154680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ผู้รับผิดชอบหนึ่งคน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703320"/>
            <a:ext cx="2354580" cy="1298448"/>
          </a:xfrm>
          <a:prstGeom prst="roundRect">
            <a:avLst>
              <a:gd name="adj" fmla="val 985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update_0E8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904488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49440" y="4306824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617720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รอบการติดตาม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40012" y="3703320"/>
            <a:ext cx="2354580" cy="1298448"/>
          </a:xfrm>
          <a:prstGeom prst="roundRect">
            <a:avLst>
              <a:gd name="adj" fmla="val 985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emergency_home_0E8C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8612" y="3904488"/>
            <a:ext cx="329184" cy="32918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468612" y="4306824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Reaction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8612" y="4617720"/>
            <a:ext cx="19888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วิธีตอบสนองเมื่อหลุดเป้า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20840" y="5321808"/>
            <a:ext cx="48737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lightbulb_E8A3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008" y="5577840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52360" y="5321808"/>
            <a:ext cx="3959352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พนักงานควบคุม OEE ทั้งโรงงานไม่ได้ แต่ควบคุม เวลาหยุดเครื่อง การตรวจสภาพ และค่าตั้งเครื่อง ได้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 · 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Leading and Lagging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ใช้ร่วมกัน เพื่อไม่ให้เห็นผลเสียเมื่อสายเกินไป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4892040" cy="3611880"/>
          </a:xfrm>
          <a:prstGeom prst="roundRect">
            <a:avLst>
              <a:gd name="adj" fmla="val 4556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peed_0E8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75688"/>
            <a:ext cx="420624" cy="4206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20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Leading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77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= Process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ติดตามปัจจัยก่อนเกิดผล และต้องควบคุมได้ในระดับนั้น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10712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Timing   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ก่อนเกิดผล — ยังป้องกันได้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Question 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เรากำลังควบคุมสิ่งที่ถูกต้องอยู่หรือไม่?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34840"/>
            <a:ext cx="1712361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Centerline Adherence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4193" y="4434840"/>
            <a:ext cx="127407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CIL Completion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1419" y="4434840"/>
            <a:ext cx="99176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PM on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837176"/>
            <a:ext cx="158049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Abnormality Closed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2552" y="1783080"/>
            <a:ext cx="4892040" cy="3611880"/>
          </a:xfrm>
          <a:prstGeom prst="roundRect">
            <a:avLst>
              <a:gd name="adj" fmla="val 4556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flag_7FDB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2075688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25512" y="20116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Lagging 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377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FC0E8"/>
                </a:solidFill>
                <a:latin typeface="Bai Jamjuree SemiBold"/>
                <a:ea typeface="Bai Jamjuree SemiBold"/>
                <a:cs typeface="Bai Jamjuree SemiBold"/>
              </a:rPr>
              <a:t>= Result KPI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2788920"/>
            <a:ext cx="4343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วัดผลที่เกิดขึ้นแล้ว เป็นหลักฐานว่าบรรลุเป้าหรือไม่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76872" y="3410712"/>
            <a:ext cx="4343400" cy="822960"/>
          </a:xfrm>
          <a:prstGeom prst="roundRect">
            <a:avLst>
              <a:gd name="adj" fmla="val 11111"/>
            </a:avLst>
          </a:prstGeom>
          <a:solidFill>
            <a:srgbClr val="2A3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Timing     </a:t>
            </a:r>
            <a:r>
              <a:rPr sz="1250" b="0">
                <a:solidFill>
                  <a:srgbClr val="DCE4F7"/>
                </a:solidFill>
                <a:latin typeface="Bai Jamjuree"/>
                <a:ea typeface="Bai Jamjuree"/>
                <a:cs typeface="Bai Jamjuree"/>
              </a:rPr>
              <a:t>หลังเกิดผล — ยืนยันผลลัพธ์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Question  </a:t>
            </a:r>
            <a:r>
              <a:rPr sz="1250" b="0">
                <a:solidFill>
                  <a:srgbClr val="DCE4F7"/>
                </a:solidFill>
                <a:latin typeface="Bai Jamjuree"/>
                <a:ea typeface="Bai Jamjuree"/>
                <a:cs typeface="Bai Jamjuree"/>
              </a:rPr>
              <a:t>เราได้ผลตามเป้าหมายหรือไม่?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76872" y="4434840"/>
            <a:ext cx="504687" cy="329184"/>
          </a:xfrm>
          <a:prstGeom prst="roundRect">
            <a:avLst>
              <a:gd name="adj" fmla="val 50000"/>
            </a:avLst>
          </a:prstGeom>
          <a:solidFill>
            <a:srgbClr val="2A3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54711" y="4434840"/>
            <a:ext cx="1036891" cy="329184"/>
          </a:xfrm>
          <a:prstGeom prst="roundRect">
            <a:avLst>
              <a:gd name="adj" fmla="val 50000"/>
            </a:avLst>
          </a:prstGeom>
          <a:solidFill>
            <a:srgbClr val="2A3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Defect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64754" y="4434840"/>
            <a:ext cx="533167" cy="329184"/>
          </a:xfrm>
          <a:prstGeom prst="roundRect">
            <a:avLst>
              <a:gd name="adj" fmla="val 50000"/>
            </a:avLst>
          </a:prstGeom>
          <a:solidFill>
            <a:srgbClr val="2A3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5836" y="3200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drives</a:t>
            </a:r>
          </a:p>
        </p:txBody>
      </p:sp>
      <p:pic>
        <p:nvPicPr>
          <p:cNvPr id="26" name="Picture 25" descr="arrow_forward_0E8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876" y="3456432"/>
            <a:ext cx="457200" cy="4572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94360" y="5577840"/>
            <a:ext cx="11000232" cy="658368"/>
          </a:xfrm>
          <a:prstGeom prst="roundRect">
            <a:avLst>
              <a:gd name="adj" fmla="val 16666"/>
            </a:avLst>
          </a:prstGeom>
          <a:solidFill>
            <a:srgbClr val="FD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lightbulb_D97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724144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25880" y="5577840"/>
            <a:ext cx="10085832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 SemiBold"/>
                <a:ea typeface="Bai Jamjuree SemiBold"/>
                <a:cs typeface="Bai Jamjuree SemiBold"/>
              </a:rPr>
              <a:t>CIL ครบ 100% แต่ OEE ยังต่ำ → </a:t>
            </a: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ตรวจว่า CIL ครอบคลุมความเสี่ยงจริงหรือไม่ — Leading ที่ไม่ขับ Lagging คือ KPI ที่วัดผิดจุด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 · 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Building a KPI Cascade in 5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ทำตามลำดับ ทุกขั้นมี Output ที่ตรวจสอบได้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94383" y="2148840"/>
            <a:ext cx="8800186" cy="0"/>
          </a:xfrm>
          <a:prstGeom prst="line">
            <a:avLst/>
          </a:prstGeom>
          <a:ln w="38100">
            <a:solidFill>
              <a:srgbClr val="9ED9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410919" y="1865376"/>
            <a:ext cx="566928" cy="566928"/>
          </a:xfrm>
          <a:prstGeom prst="ellipse">
            <a:avLst/>
          </a:prstGeom>
          <a:solidFill>
            <a:srgbClr val="0A4A39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87752"/>
            <a:ext cx="201716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Start from Plant KPI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46120"/>
            <a:ext cx="198059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เลือกตัวที่ชัดและเชื่อมกับธุรกิจ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4114800"/>
            <a:ext cx="2053742" cy="1143000"/>
          </a:xfrm>
          <a:prstGeom prst="roundRect">
            <a:avLst>
              <a:gd name="adj" fmla="val 96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ist_alt_0E8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935" y="4261104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4617720"/>
            <a:ext cx="201716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64608"/>
            <a:ext cx="201716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Plant KPI List</a:t>
            </a:r>
          </a:p>
        </p:txBody>
      </p:sp>
      <p:sp>
        <p:nvSpPr>
          <p:cNvPr id="14" name="Oval 13"/>
          <p:cNvSpPr/>
          <p:nvPr/>
        </p:nvSpPr>
        <p:spPr>
          <a:xfrm>
            <a:off x="3610966" y="1865376"/>
            <a:ext cx="566928" cy="566928"/>
          </a:xfrm>
          <a:prstGeom prst="ellipse">
            <a:avLst/>
          </a:prstGeom>
          <a:solidFill>
            <a:srgbClr val="0B5A45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5846" y="2587752"/>
            <a:ext cx="201716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Map Contributors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4134" y="3246120"/>
            <a:ext cx="198059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ระบุหน่วยงานและกระบวนการที่ส่งผล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7558" y="4114800"/>
            <a:ext cx="2053742" cy="1143000"/>
          </a:xfrm>
          <a:prstGeom prst="roundRect">
            <a:avLst>
              <a:gd name="adj" fmla="val 96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ccount_tree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982" y="4261104"/>
            <a:ext cx="310896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85846" y="4617720"/>
            <a:ext cx="201716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5846" y="4864608"/>
            <a:ext cx="201716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Contribution Map</a:t>
            </a:r>
          </a:p>
        </p:txBody>
      </p:sp>
      <p:sp>
        <p:nvSpPr>
          <p:cNvPr id="21" name="Oval 20"/>
          <p:cNvSpPr/>
          <p:nvPr/>
        </p:nvSpPr>
        <p:spPr>
          <a:xfrm>
            <a:off x="5811012" y="1865376"/>
            <a:ext cx="566928" cy="566928"/>
          </a:xfrm>
          <a:prstGeom prst="ellipse">
            <a:avLst/>
          </a:prstGeom>
          <a:solidFill>
            <a:srgbClr val="0B6B52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85893" y="2587752"/>
            <a:ext cx="201716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Split Lagging &amp; Leading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4181" y="3246120"/>
            <a:ext cx="198059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เช่น OEE → Downtime · Speed · Waste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7605" y="4114800"/>
            <a:ext cx="2053742" cy="1143000"/>
          </a:xfrm>
          <a:prstGeom prst="roundRect">
            <a:avLst>
              <a:gd name="adj" fmla="val 96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device_hub_0E8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028" y="4261104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85893" y="4617720"/>
            <a:ext cx="201716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5893" y="4864608"/>
            <a:ext cx="201716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Tree</a:t>
            </a:r>
          </a:p>
        </p:txBody>
      </p:sp>
      <p:sp>
        <p:nvSpPr>
          <p:cNvPr id="28" name="Oval 27"/>
          <p:cNvSpPr/>
          <p:nvPr/>
        </p:nvSpPr>
        <p:spPr>
          <a:xfrm>
            <a:off x="8011058" y="1865376"/>
            <a:ext cx="566928" cy="566928"/>
          </a:xfrm>
          <a:prstGeom prst="ellipse">
            <a:avLst/>
          </a:prstGeom>
          <a:solidFill>
            <a:srgbClr val="0D7C5F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5939" y="2587752"/>
            <a:ext cx="201716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Set Target · Frequency · Owner · Reaction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4227" y="3246120"/>
            <a:ext cx="198059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 KPI ต้องมีครบสี่อย่าง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7651" y="4114800"/>
            <a:ext cx="2053742" cy="1143000"/>
          </a:xfrm>
          <a:prstGeom prst="roundRect">
            <a:avLst>
              <a:gd name="adj" fmla="val 96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able_chart_0E8C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074" y="4261104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85939" y="4617720"/>
            <a:ext cx="201716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85939" y="4864608"/>
            <a:ext cx="201716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Matrix</a:t>
            </a:r>
          </a:p>
        </p:txBody>
      </p:sp>
      <p:sp>
        <p:nvSpPr>
          <p:cNvPr id="35" name="Oval 34"/>
          <p:cNvSpPr/>
          <p:nvPr/>
        </p:nvSpPr>
        <p:spPr>
          <a:xfrm>
            <a:off x="10211105" y="1865376"/>
            <a:ext cx="566928" cy="566928"/>
          </a:xfrm>
          <a:prstGeom prst="ellipse">
            <a:avLst/>
          </a:prstGeom>
          <a:solidFill>
            <a:srgbClr val="16A37E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5986" y="2587752"/>
            <a:ext cx="2017166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Pilot &amp; Refine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4274" y="3246120"/>
            <a:ext cx="198059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ทดลองใช้รายวัน แล้วปรับให้เหมาะ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7698" y="4114800"/>
            <a:ext cx="2053742" cy="1143000"/>
          </a:xfrm>
          <a:prstGeom prst="roundRect">
            <a:avLst>
              <a:gd name="adj" fmla="val 96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dashboard_0E8C6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9121" y="4261104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485986" y="4617720"/>
            <a:ext cx="201716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5986" y="4864608"/>
            <a:ext cx="2017166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Board in Daily Use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532120"/>
            <a:ext cx="11000232" cy="685800"/>
          </a:xfrm>
          <a:prstGeom prst="roundRect">
            <a:avLst>
              <a:gd name="adj" fmla="val 18666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filter_alt_7FDB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715000"/>
            <a:ext cx="329184" cy="32918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371600" y="5532120"/>
            <a:ext cx="10085832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Test: ถ้า KPI ไม่ทำให้เกิดการตัดสินใจ ก็ไม่ควรอยู่บนบอร์ดประจำวัน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 · 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Example: Beverage OEE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เชื่อมผลรวมระดับโรงงานกับจุดควบคุมจริงที่เครื่องจักร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34056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15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PLANT · WEEKLY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118104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A4A3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Beverage OEE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13048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Top Loss</a:t>
            </a:r>
          </a:p>
        </p:txBody>
      </p:sp>
      <p:pic>
        <p:nvPicPr>
          <p:cNvPr id="9" name="Picture 8" descr="chevron_right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8104" y="3602736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47288" y="2386584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15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SECTION · DAILY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277063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B6B52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3465576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Unplanned Downtime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41605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Planned Downtime</a:t>
            </a:r>
          </a:p>
        </p:txBody>
      </p:sp>
      <p:pic>
        <p:nvPicPr>
          <p:cNvPr id="14" name="Picture 13" descr="chevron_right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032" y="360273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00216" y="2386584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15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SHIFT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277063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0E8C6C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Output vs 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0216" y="3465576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Speed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416052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Stop Minutes</a:t>
            </a:r>
          </a:p>
        </p:txBody>
      </p:sp>
      <p:pic>
        <p:nvPicPr>
          <p:cNvPr id="19" name="Picture 18" descr="chevron_right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602736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53144" y="2039112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15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LINE / OPERATOR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2423160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Centerline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3144" y="3118104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3813048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Abnormality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4507992"/>
            <a:ext cx="2487168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0E8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 bIns="164592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Machine Status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60720"/>
            <a:ext cx="201168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ผลรวม · แนวโน้ม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5907024"/>
            <a:ext cx="7251192" cy="45720"/>
          </a:xfrm>
          <a:prstGeom prst="rect">
            <a:avLst/>
          </a:prstGeom>
          <a:gradFill rotWithShape="1">
            <a:gsLst>
              <a:gs pos="0">
                <a:srgbClr val="0A4A39"/>
              </a:gs>
              <a:gs pos="100000">
                <a:srgbClr val="7FDBC0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765792" y="57607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สิ่งที่ควบคุมได้จริง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Lagging  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5349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→  Leading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01 · KPI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Visual Management 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ทำให้ KPI ใช้ตัดสินใจได้ทุกวัน ไม่ใช่แค่กราฟบนผนัง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612648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47672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Line A · Shift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947672"/>
            <a:ext cx="1022608" cy="274320"/>
          </a:xfrm>
          <a:prstGeom prst="roundRect">
            <a:avLst>
              <a:gd name="adj" fmla="val 5000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ตัวอย่างสมมติ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350008"/>
            <a:ext cx="1816608" cy="960120"/>
          </a:xfrm>
          <a:prstGeom prst="roundRect">
            <a:avLst>
              <a:gd name="adj" fmla="val 9523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404872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163372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0E8C6C"/>
                </a:solidFill>
                <a:latin typeface="Bai Jamjuree"/>
                <a:ea typeface="Bai Jamjuree"/>
                <a:cs typeface="Bai Jamjuree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633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Green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9296" y="2350008"/>
            <a:ext cx="1816608" cy="960120"/>
          </a:xfrm>
          <a:prstGeom prst="roundRect">
            <a:avLst>
              <a:gd name="adj" fmla="val 9523"/>
            </a:avLst>
          </a:prstGeom>
          <a:solidFill>
            <a:srgbClr val="FD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6456" y="2404872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Defect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6456" y="2624328"/>
            <a:ext cx="163372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B7780A"/>
                </a:solidFill>
                <a:latin typeface="Bai Jamjuree"/>
                <a:ea typeface="Bai Jamjuree"/>
                <a:cs typeface="Bai Jamjuree"/>
              </a:rPr>
              <a:t>0.8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6456" y="3017520"/>
            <a:ext cx="1633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7780A"/>
                </a:solidFill>
                <a:latin typeface="Bai Jamjuree SemiBold"/>
                <a:ea typeface="Bai Jamjuree SemiBold"/>
                <a:cs typeface="Bai Jamjuree SemiBold"/>
              </a:rPr>
              <a:t>Yellow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5632" y="2350008"/>
            <a:ext cx="1816608" cy="960120"/>
          </a:xfrm>
          <a:prstGeom prst="roundRect">
            <a:avLst>
              <a:gd name="adj" fmla="val 9523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12792" y="2404872"/>
            <a:ext cx="16337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 vs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2792" y="2624328"/>
            <a:ext cx="163372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8361F"/>
                </a:solidFill>
                <a:latin typeface="Bai Jamjuree"/>
                <a:ea typeface="Bai Jamjuree"/>
                <a:cs typeface="Bai Jamjuree"/>
              </a:rP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2792" y="3017520"/>
            <a:ext cx="1633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Red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447288"/>
            <a:ext cx="5669280" cy="384048"/>
          </a:xfrm>
          <a:prstGeom prst="roundRect">
            <a:avLst>
              <a:gd name="adj" fmla="val 19047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priority_high_C836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0440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3447288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Top issue: Filler หยุด 45 นาที (Alarm ชุดป้อนฝา)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922776"/>
            <a:ext cx="5669280" cy="658368"/>
          </a:xfrm>
          <a:prstGeom prst="roundRect">
            <a:avLst>
              <a:gd name="adj" fmla="val 11111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8408" y="3977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251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ตรวจชุดป้อนฝา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3977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 · Due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4251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Maint · 14:00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39776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3208" y="42519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In Progress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66344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Output by Hour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186934"/>
            <a:ext cx="617220" cy="912114"/>
          </a:xfrm>
          <a:prstGeom prst="roundRect">
            <a:avLst>
              <a:gd name="adj" fmla="val 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577340" y="5119726"/>
            <a:ext cx="617220" cy="979322"/>
          </a:xfrm>
          <a:prstGeom prst="roundRect">
            <a:avLst>
              <a:gd name="adj" fmla="val 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286000" y="5196535"/>
            <a:ext cx="617220" cy="902513"/>
          </a:xfrm>
          <a:prstGeom prst="roundRect">
            <a:avLst>
              <a:gd name="adj" fmla="val 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994660" y="5350154"/>
            <a:ext cx="617220" cy="748894"/>
          </a:xfrm>
          <a:prstGeom prst="roundRect">
            <a:avLst>
              <a:gd name="adj" fmla="val 4444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703320" y="5715000"/>
            <a:ext cx="617220" cy="384048"/>
          </a:xfrm>
          <a:prstGeom prst="roundRect">
            <a:avLst>
              <a:gd name="adj" fmla="val 7142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4411980" y="5282946"/>
            <a:ext cx="617220" cy="816102"/>
          </a:xfrm>
          <a:prstGeom prst="roundRect">
            <a:avLst>
              <a:gd name="adj" fmla="val 4444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120640" y="5138928"/>
            <a:ext cx="617220" cy="960120"/>
          </a:xfrm>
          <a:prstGeom prst="roundRect">
            <a:avLst>
              <a:gd name="adj" fmla="val 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5829300" y="5100523"/>
            <a:ext cx="617220" cy="998525"/>
          </a:xfrm>
          <a:prstGeom prst="roundRect">
            <a:avLst>
              <a:gd name="adj" fmla="val 444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0" name="Connector 39"/>
          <p:cNvCxnSpPr/>
          <p:nvPr/>
        </p:nvCxnSpPr>
        <p:spPr>
          <a:xfrm>
            <a:off x="822960" y="5138928"/>
            <a:ext cx="5669280" cy="0"/>
          </a:xfrm>
          <a:prstGeom prst="line">
            <a:avLst/>
          </a:prstGeom>
          <a:ln w="12700">
            <a:solidFill>
              <a:srgbClr val="1427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0" y="489204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9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Target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1783080"/>
            <a:ext cx="455371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7242048" y="2029968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compare_arrows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7262" y="2145182"/>
            <a:ext cx="281635" cy="28163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909560" y="1947672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Target เทียบ Actual ในรอบที่กำหนด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313432"/>
            <a:ext cx="35478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ไม่ใช่ผลสะสมสิ้นเดือน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040880" y="2926080"/>
            <a:ext cx="455371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7242048" y="3172968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9" name="Picture 48" descr="traffic_0E8C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7262" y="3288182"/>
            <a:ext cx="281635" cy="28163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909560" y="3090672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สี G / Y / R ตามเกณฑ์ที่ตกลงกัน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09560" y="3456432"/>
            <a:ext cx="35478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ทุกคนอ่านสถานะได้ใน 5 วินาที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040880" y="4069080"/>
            <a:ext cx="455371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7242048" y="4315968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report_0E8C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262" y="4431182"/>
            <a:ext cx="281635" cy="28163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7909560" y="4233672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ปัญหาสำคัญ และความเสี่ยงรอบถัดไป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4599432"/>
            <a:ext cx="35478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เลือกไม่เกิน 3 เรื่อง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40880" y="5212080"/>
            <a:ext cx="4553712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7242048" y="5458968"/>
            <a:ext cx="512064" cy="512064"/>
          </a:xfrm>
          <a:prstGeom prst="roundRect">
            <a:avLst>
              <a:gd name="adj" fmla="val 21428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9" name="Picture 58" descr="task_alt_0E8C6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262" y="5574182"/>
            <a:ext cx="281635" cy="28163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909560" y="5376672"/>
            <a:ext cx="35478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 · Due · Action · สถานะปิดงาน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5742432"/>
            <a:ext cx="354787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ทุกเรื่องตามได้ว่าใครทำ เสร็จเมื่อไร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3E8F"/>
              </a:gs>
              <a:gs pos="100000">
                <a:srgbClr val="1A66D9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603504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5895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914400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0" y="141732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0" b="1">
                <a:solidFill>
                  <a:srgbClr val="FFFFFF">
                    <a:alpha val="20000"/>
                  </a:srgbClr>
                </a:solidFill>
                <a:latin typeface="Bai Jamjuree"/>
                <a:ea typeface="Bai Jamjuree"/>
                <a:cs typeface="Bai Jamjuree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9776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Stabilize Loop · 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300">
                <a:solidFill>
                  <a:srgbClr val="E8EEFA"/>
                </a:solidFill>
                <a:latin typeface="Bai Jamjuree SemiBold"/>
                <a:ea typeface="Bai Jamjuree SemiBold"/>
                <a:cs typeface="Bai Jamjuree SemiBold"/>
              </a:rPr>
              <a:t>COMPONENT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46504"/>
            <a:ext cx="694944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Purposeful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Meeting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47872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ประชุมเพื่อควบคุมผลการทำงาน ไม่ใช่รายงานข้อมูลอย่างเดียว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96512"/>
            <a:ext cx="119818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Cadence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83985" y="4096512"/>
            <a:ext cx="1134475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Rhythm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9901" y="4096512"/>
            <a:ext cx="99989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1239" y="4096512"/>
            <a:ext cx="168833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Action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8408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362456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746504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130552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06040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>
                    <a:alpha val="80000"/>
                  </a:srgbClr>
                </a:solidFill>
                <a:latin typeface="Bai Jamjuree"/>
                <a:ea typeface="Bai Jamjuree"/>
                <a:cs typeface="Bai Jamjuree"/>
              </a:rPr>
              <a:t>Component 2 of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02 · PURPOSEFUL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Inputs and Outputs of a DMS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ข้อมูลเข้าคือข้อเท็จจริง · สิ่งที่ออกคือการตัดสินใจที่ติดตามได้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INPUTS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4290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onitoring_1A66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22576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6152" y="2148840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vs Target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459736"/>
            <a:ext cx="998068" cy="1152144"/>
          </a:xfrm>
          <a:prstGeom prst="line">
            <a:avLst/>
          </a:prstGeom>
          <a:ln w="15875">
            <a:solidFill>
              <a:srgbClr val="B9CB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" y="2935224"/>
            <a:ext cx="34290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error_1A66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108960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6152" y="2935224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Deviations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3246120"/>
            <a:ext cx="998068" cy="365760"/>
          </a:xfrm>
          <a:prstGeom prst="line">
            <a:avLst/>
          </a:prstGeom>
          <a:ln w="15875">
            <a:solidFill>
              <a:srgbClr val="B9CB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" y="3721608"/>
            <a:ext cx="34290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visibility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3895344"/>
            <a:ext cx="274320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16152" y="3721608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Risks Ahead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023360" y="3611880"/>
            <a:ext cx="998068" cy="420624"/>
          </a:xfrm>
          <a:prstGeom prst="line">
            <a:avLst/>
          </a:prstGeom>
          <a:ln w="15875">
            <a:solidFill>
              <a:srgbClr val="B9CB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4507992"/>
            <a:ext cx="34290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pending_actions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681728"/>
            <a:ext cx="274320" cy="2743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16152" y="4507992"/>
            <a:ext cx="274320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Open Actions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023360" y="3611880"/>
            <a:ext cx="998068" cy="1207008"/>
          </a:xfrm>
          <a:prstGeom prst="line">
            <a:avLst/>
          </a:prstGeom>
          <a:ln w="15875">
            <a:solidFill>
              <a:srgbClr val="B9CB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701388" y="2217420"/>
            <a:ext cx="2788920" cy="2788920"/>
          </a:xfrm>
          <a:prstGeom prst="ellipse">
            <a:avLst/>
          </a:prstGeom>
          <a:solidFill>
            <a:srgbClr val="1A66D9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4929988" y="2446020"/>
            <a:ext cx="2331720" cy="2331720"/>
          </a:xfrm>
          <a:prstGeom prst="ellipse">
            <a:avLst/>
          </a:prstGeom>
          <a:gradFill rotWithShape="1">
            <a:gsLst>
              <a:gs pos="0">
                <a:srgbClr val="3B86F0"/>
              </a:gs>
              <a:gs pos="100000">
                <a:srgbClr val="1452B8"/>
              </a:gs>
            </a:gsLst>
            <a:lin scaled="0" ang="27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group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248" y="2880360"/>
            <a:ext cx="457200" cy="4572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81448" y="333756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448" y="386791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DCE8FF"/>
                </a:solidFill>
                <a:latin typeface="Bai Jamjuree"/>
                <a:ea typeface="Bai Jamjuree"/>
                <a:cs typeface="Bai Jamjuree"/>
              </a:rPr>
              <a:t>Review · Decide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20116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OUTPUTS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5592" y="2377440"/>
            <a:ext cx="3429000" cy="676656"/>
          </a:xfrm>
          <a:prstGeom prst="roundRect">
            <a:avLst>
              <a:gd name="adj" fmla="val 13513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gavel_7FDB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2569464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05672" y="2377440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Clear Decisions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215988" y="2715768"/>
            <a:ext cx="949604" cy="896112"/>
          </a:xfrm>
          <a:prstGeom prst="line">
            <a:avLst/>
          </a:prstGeom>
          <a:ln w="15875">
            <a:solidFill>
              <a:srgbClr val="B9C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65592" y="3218688"/>
            <a:ext cx="3429000" cy="676656"/>
          </a:xfrm>
          <a:prstGeom prst="roundRect">
            <a:avLst>
              <a:gd name="adj" fmla="val 13513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assignment_ind_7FDB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410712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05672" y="3218688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Actions with Owner &amp; Due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7215988" y="3557016"/>
            <a:ext cx="949604" cy="54864"/>
          </a:xfrm>
          <a:prstGeom prst="line">
            <a:avLst/>
          </a:prstGeom>
          <a:ln w="15875">
            <a:solidFill>
              <a:srgbClr val="B9C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65592" y="4059936"/>
            <a:ext cx="3429000" cy="676656"/>
          </a:xfrm>
          <a:prstGeom prst="roundRect">
            <a:avLst>
              <a:gd name="adj" fmla="val 13513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north_7FDBC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4251960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805672" y="4059936"/>
            <a:ext cx="2743200" cy="6766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Escalations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215988" y="3611880"/>
            <a:ext cx="949604" cy="786384"/>
          </a:xfrm>
          <a:prstGeom prst="line">
            <a:avLst/>
          </a:prstGeom>
          <a:ln w="15875">
            <a:solidFill>
              <a:srgbClr val="B9CBE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4360" y="5532120"/>
            <a:ext cx="5408676" cy="713232"/>
          </a:xfrm>
          <a:prstGeom prst="roundRect">
            <a:avLst>
              <a:gd name="adj" fmla="val 15384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close_C8361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" y="5760720"/>
            <a:ext cx="256032" cy="25603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161288" y="5532120"/>
            <a:ext cx="4677156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Report-out Meeting — </a:t>
            </a: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เล่าตัวเลขย้อนหลัง จบโดยไม่มีการตัดสินใจ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5916" y="5532120"/>
            <a:ext cx="5408676" cy="713232"/>
          </a:xfrm>
          <a:prstGeom prst="roundRect">
            <a:avLst>
              <a:gd name="adj" fmla="val 15384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check_0E8C6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7084" y="5760720"/>
            <a:ext cx="256032" cy="2560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2844" y="5532120"/>
            <a:ext cx="4677156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Purposeful Meeting — </a:t>
            </a: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ใช้ข้อมูลควบคุมรอบถัดไป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02 · PURPOSEFUL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SIM Cadence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Short Interval Management: จังหวะบริหารจากกะถึงผู้บริหาร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886200"/>
            <a:ext cx="2075688" cy="1709928"/>
          </a:xfrm>
          <a:prstGeom prst="roundRect">
            <a:avLst>
              <a:gd name="adj" fmla="val 7486"/>
            </a:avLst>
          </a:prstGeom>
          <a:solidFill>
            <a:srgbClr val="BFD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4050792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SIM 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53128"/>
            <a:ext cx="1801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Shift &amp;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65192"/>
            <a:ext cx="18013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ควบคุมและส่งมอบงานระหว่างกะ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8356" y="3383280"/>
            <a:ext cx="2075688" cy="2212848"/>
          </a:xfrm>
          <a:prstGeom prst="roundRect">
            <a:avLst>
              <a:gd name="adj" fmla="val 6167"/>
            </a:avLst>
          </a:prstGeom>
          <a:solidFill>
            <a:srgbClr val="7FA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31236" y="3547872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SIM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1236" y="3950208"/>
            <a:ext cx="1801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Section /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1236" y="4462272"/>
            <a:ext cx="18013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ผลและปัญหาของ Section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2880360"/>
            <a:ext cx="2075688" cy="2715768"/>
          </a:xfrm>
          <a:prstGeom prst="roundRect">
            <a:avLst>
              <a:gd name="adj" fmla="val 6167"/>
            </a:avLst>
          </a:prstGeom>
          <a:solidFill>
            <a:srgbClr val="3B8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85232" y="3044952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447288"/>
            <a:ext cx="1801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Plant Daily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959352"/>
            <a:ext cx="18013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ทบทวนรายวันระดับโรงงาน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6348" y="2377440"/>
            <a:ext cx="2075688" cy="3218688"/>
          </a:xfrm>
          <a:prstGeom prst="roundRect">
            <a:avLst>
              <a:gd name="adj" fmla="val 6167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39228" y="2542032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4.5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39228" y="2944368"/>
            <a:ext cx="1801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Weekly Performance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9228" y="3456432"/>
            <a:ext cx="18013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แนวโน้มและการป้องกันปัญหาซ้ำ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10344" y="1874520"/>
            <a:ext cx="2075688" cy="3721608"/>
          </a:xfrm>
          <a:prstGeom prst="roundRect">
            <a:avLst>
              <a:gd name="adj" fmla="val 6167"/>
            </a:avLst>
          </a:prstGeom>
          <a:solidFill>
            <a:srgbClr val="0D3E8F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93224" y="2039112"/>
            <a:ext cx="180136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6–7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3224" y="2441448"/>
            <a:ext cx="180136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Executive Weekly / Monthly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2953512"/>
            <a:ext cx="180136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>
                    <a:alpha val="90000"/>
                  </a:srgbClr>
                </a:solidFill>
                <a:latin typeface="Bai Jamjuree"/>
                <a:ea typeface="Bai Jamjuree"/>
                <a:cs typeface="Bai Jamjuree"/>
              </a:rPr>
              <a:t>เรื่องที่ต้องใช้อำนาจและทรัพยากร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532120"/>
            <a:ext cx="11000232" cy="45720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508760" y="1965960"/>
            <a:ext cx="3291840" cy="0"/>
          </a:xfrm>
          <a:prstGeom prst="line">
            <a:avLst/>
          </a:prstGeom>
          <a:ln w="25400">
            <a:solidFill>
              <a:srgbClr val="1A66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1783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Escalate</a:t>
            </a:r>
          </a:p>
        </p:txBody>
      </p:sp>
      <p:pic>
        <p:nvPicPr>
          <p:cNvPr id="29" name="Picture 28" descr="near_me_1A66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5806440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8408" y="5733288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แก้ใกล้จุดเกิดเหตุที่สุดก่อน · ส่งขึ้นเฉพาะเรื่องที่ต้องใช้อำนาจหรือประสานงาน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5733288"/>
            <a:ext cx="31089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เวลาจริงยึด SIM Cadence ที่ประกาศใช้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02 · PURPOSEFUL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SIM Rhythm and Standard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 SIM ใช้จังหวะเดียวกัน: ดูย้อน · มองไปข้างหน้า · เลือก · ลงมือ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istory_1A66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11680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4963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Look 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ผลรอบก่อนเทียบเป้า งานค้างเสร็จหรือยัง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3730752"/>
            <a:ext cx="224942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“เมื่อวานเป็นไปตามแผนไหม?”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7969" y="178308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isibility_1A66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6569" y="2011680"/>
            <a:ext cx="365760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36569" y="24963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Look Forward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6569" y="2880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ความเสี่ยงและความพร้อมของรอบถัดไป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9137" y="3730752"/>
            <a:ext cx="224942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“กะหน้ามีความเสี่ยงอะไร?”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1578" y="178308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low_priority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178" y="2011680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50178" y="24963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Prioritize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0178" y="2880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เลือกประเด็นที่สำคัญที่สุด ไม่ใช่ทุกเรื่อง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22746" y="3730752"/>
            <a:ext cx="2249424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“เรื่องไหนสำคัญที่สุด?”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5186" y="1783080"/>
            <a:ext cx="2651760" cy="2697480"/>
          </a:xfrm>
          <a:prstGeom prst="roundRect">
            <a:avLst>
              <a:gd name="adj" fmla="val 5517"/>
            </a:avLst>
          </a:prstGeom>
          <a:solidFill>
            <a:srgbClr val="1A66D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bo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3786" y="2011680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63786" y="24963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3786" y="288036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CE8FF"/>
                </a:solidFill>
                <a:latin typeface="Bai Jamjuree"/>
                <a:ea typeface="Bai Jamjuree"/>
                <a:cs typeface="Bai Jamjuree"/>
              </a:rPr>
              <a:t>วิธีจัดการ ผู้รับผิดชอบ เวลาติดตาม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6354" y="3730752"/>
            <a:ext cx="2249424" cy="566928"/>
          </a:xfrm>
          <a:prstGeom prst="roundRect">
            <a:avLst>
              <a:gd name="adj" fmla="val 16129"/>
            </a:avLst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“ใคร ทำอะไร เสร็จเมื่อไร?”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817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STANDARD AGENDA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10912"/>
            <a:ext cx="2218334" cy="1234440"/>
          </a:xfrm>
          <a:prstGeom prst="roundRect">
            <a:avLst>
              <a:gd name="adj" fmla="val 10370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694383" y="5010912"/>
            <a:ext cx="1118311" cy="1234440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BC0"/>
                </a:solidFill>
                <a:latin typeface="Bai Jamjuree"/>
                <a:ea typeface="Bai Jamjuree"/>
                <a:cs typeface="Bai Jamjuree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04688"/>
            <a:ext cx="188000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ทบทวน Action ค้าง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94406" y="5010912"/>
            <a:ext cx="2218334" cy="1234440"/>
          </a:xfrm>
          <a:prstGeom prst="rect">
            <a:avLst/>
          </a:prstGeom>
          <a:solidFill>
            <a:srgbClr val="1B3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977286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BC0"/>
                </a:solidFill>
                <a:latin typeface="Bai Jamjuree"/>
                <a:ea typeface="Bai Jamjuree"/>
                <a:cs typeface="Bai Jamjuree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7286" y="5504688"/>
            <a:ext cx="188000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ตรวจ KPI · Red / Yellow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94453" y="5010912"/>
            <a:ext cx="2218334" cy="1234440"/>
          </a:xfrm>
          <a:prstGeom prst="rect">
            <a:avLst/>
          </a:prstGeom>
          <a:solidFill>
            <a:srgbClr val="224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77333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BC0"/>
                </a:solidFill>
                <a:latin typeface="Bai Jamjuree"/>
                <a:ea typeface="Bai Jamjuree"/>
                <a:cs typeface="Bai Jamjuree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77333" y="5504688"/>
            <a:ext cx="188000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ผลกระทบและการควบคุมที่ทำแล้ว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94499" y="5010912"/>
            <a:ext cx="2218334" cy="1234440"/>
          </a:xfrm>
          <a:prstGeom prst="rect">
            <a:avLst/>
          </a:prstGeom>
          <a:solidFill>
            <a:srgbClr val="2A5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377379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BC0"/>
                </a:solidFill>
                <a:latin typeface="Bai Jamjuree"/>
                <a:ea typeface="Bai Jamjuree"/>
                <a:cs typeface="Bai Jamjuree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77379" y="5504688"/>
            <a:ext cx="188000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Action · Owner · Due ·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94546" y="5010912"/>
            <a:ext cx="2200046" cy="1234440"/>
          </a:xfrm>
          <a:prstGeom prst="roundRect">
            <a:avLst>
              <a:gd name="adj" fmla="val 10370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394546" y="5010912"/>
            <a:ext cx="1118311" cy="1234440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577426" y="51206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7FDBC0"/>
                </a:solidFill>
                <a:latin typeface="Bai Jamjuree"/>
                <a:ea typeface="Bai Jamjuree"/>
                <a:cs typeface="Bai Jamjuree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7426" y="5504688"/>
            <a:ext cx="1880006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ยืนยันเรื่องสำคัญก่อนจบ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02 · PURPOSEFUL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SIM Board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ห้าโซนที่ควรเห็นบนบอร์ด (ตัวอย่างสมมติ)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0232" cy="4480560"/>
          </a:xfrm>
          <a:prstGeom prst="roundRect">
            <a:avLst>
              <a:gd name="adj" fmla="val 3673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22376" y="1911096"/>
            <a:ext cx="3611880" cy="4224528"/>
          </a:xfrm>
          <a:prstGeom prst="roundRect">
            <a:avLst>
              <a:gd name="adj" fmla="val 30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86968" y="2075688"/>
            <a:ext cx="329184" cy="329184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2075688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KPI vs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" y="2670048"/>
            <a:ext cx="539496" cy="1389888"/>
          </a:xfrm>
          <a:prstGeom prst="roundRect">
            <a:avLst>
              <a:gd name="adj" fmla="val 508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627632" y="2596896"/>
            <a:ext cx="539496" cy="1463040"/>
          </a:xfrm>
          <a:prstGeom prst="roundRect">
            <a:avLst>
              <a:gd name="adj" fmla="val 508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258568" y="2918765"/>
            <a:ext cx="539496" cy="1141171"/>
          </a:xfrm>
          <a:prstGeom prst="roundRect">
            <a:avLst>
              <a:gd name="adj" fmla="val 5084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889504" y="3182112"/>
            <a:ext cx="539496" cy="877824"/>
          </a:xfrm>
          <a:prstGeom prst="roundRect">
            <a:avLst>
              <a:gd name="adj" fmla="val 5084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520440" y="2626157"/>
            <a:ext cx="539496" cy="1433779"/>
          </a:xfrm>
          <a:prstGeom prst="roundRect">
            <a:avLst>
              <a:gd name="adj" fmla="val 5084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950976" y="2670048"/>
            <a:ext cx="3154680" cy="0"/>
          </a:xfrm>
          <a:prstGeom prst="line">
            <a:avLst/>
          </a:prstGeom>
          <a:ln w="12700">
            <a:solidFill>
              <a:srgbClr val="0B5A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50976" y="4105656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Output รายวันเทียบเส้นเป้าหมาย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" y="4443984"/>
            <a:ext cx="3154680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060704" y="4562856"/>
            <a:ext cx="109728" cy="109728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" y="444398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Safety · 0 incident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" y="4864608"/>
            <a:ext cx="3154680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60704" y="4983480"/>
            <a:ext cx="109728" cy="109728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864608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Quality · Defect 0.8%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" y="5285232"/>
            <a:ext cx="3154680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60704" y="5404104"/>
            <a:ext cx="109728" cy="109728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285232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Delivery · 92% of 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1911096"/>
            <a:ext cx="3438144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626864" y="2075688"/>
            <a:ext cx="329184" cy="329184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6632" y="2075688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Top Abnormalities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532888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773168" y="2651760"/>
            <a:ext cx="109728" cy="109728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92624" y="2532888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Filler หยุด 45 นาที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2953512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773168" y="3072384"/>
            <a:ext cx="109728" cy="109728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92624" y="2953512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Defect ซีลสูงกว่าเป้า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3374136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773168" y="3493008"/>
            <a:ext cx="109728" cy="109728"/>
          </a:xfrm>
          <a:prstGeom prst="ellipse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992624" y="3374136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ผลิตต่ำกว่าแผน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8432" y="1911096"/>
            <a:ext cx="3438144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193024" y="2075688"/>
            <a:ext cx="329184" cy="329184"/>
          </a:xfrm>
          <a:prstGeom prst="ellipse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22792" y="2075688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Risk Next 24 Hours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532888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339328" y="2651760"/>
            <a:ext cx="109728" cy="109728"/>
          </a:xfrm>
          <a:prstGeom prst="ellipse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558784" y="2532888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เครื่องเดิม เสี่ยงหยุดซ้ำ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0" y="2953512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8339328" y="3072384"/>
            <a:ext cx="109728" cy="109728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558784" y="2953512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วัตถุดิบ Lot ใหม่เข้าบ่าย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62272" y="4087368"/>
            <a:ext cx="3438144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4626864" y="4251960"/>
            <a:ext cx="329184" cy="329184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56632" y="4251960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Action Tracker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4709160"/>
            <a:ext cx="688422" cy="292608"/>
          </a:xfrm>
          <a:prstGeom prst="roundRect">
            <a:avLst>
              <a:gd name="adj" fmla="val 1875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Open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25014" y="4709160"/>
            <a:ext cx="722234" cy="292608"/>
          </a:xfrm>
          <a:prstGeom prst="roundRect">
            <a:avLst>
              <a:gd name="adj" fmla="val 18750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Doing 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0400" y="4709160"/>
            <a:ext cx="799211" cy="292608"/>
          </a:xfrm>
          <a:prstGeom prst="roundRect">
            <a:avLst>
              <a:gd name="adj" fmla="val 1875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Closed 5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663440" y="5138928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4773168" y="5257800"/>
            <a:ext cx="109728" cy="109728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992624" y="5138928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ตรวจชุดป้อนฝา · Maint · 14:00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028432" y="4087368"/>
            <a:ext cx="3438144" cy="2048256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8193024" y="4251960"/>
            <a:ext cx="329184" cy="329184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22792" y="4251960"/>
            <a:ext cx="270662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Escalate to Next SIM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29600" y="4709160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8339328" y="4828032"/>
            <a:ext cx="109728" cy="1097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558784" y="4709160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อะไหล่สั่งด่วน → SIM 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229600" y="5129784"/>
            <a:ext cx="3035808" cy="347472"/>
          </a:xfrm>
          <a:prstGeom prst="roundRect">
            <a:avLst>
              <a:gd name="adj" fmla="val 21052"/>
            </a:avLst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8339328" y="5248656"/>
            <a:ext cx="109728" cy="10972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558784" y="5129784"/>
            <a:ext cx="262432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สถานะสินค้า → QA / SIM 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02 · PURPOSEFUL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Action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ประชุมจบแล้ว งานต้องไม่หาย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408676" cy="164592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5875">
            <a:solidFill>
              <a:srgbClr val="F2B8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thumb_down_C836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011680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4440" y="196596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Weak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49514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“ปรับปรุงเครื่องบรรจุ”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" y="2898648"/>
            <a:ext cx="895615" cy="310896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ไม่มี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19159" y="2898648"/>
            <a:ext cx="741661" cy="310896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ไม่มี Due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972" y="2898648"/>
            <a:ext cx="1309967" cy="310896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ไม่รู้ว่าเสร็จคืออะไร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5916" y="1783080"/>
            <a:ext cx="5408676" cy="164592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5875">
            <a:solidFill>
              <a:srgbClr val="A9D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humb_up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48" y="201168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25996" y="196596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Strong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86584"/>
            <a:ext cx="4951476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“ตรวจและแก้สาเหตุการหยุดที่ชุดป้อนฝา พร้อมยืนยันผลการเดินเครื่องตามเกณฑ์ที่ตกลง”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1948" y="2990088"/>
            <a:ext cx="1326862" cy="310896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Owner: หัวหน้าช่าง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1962" y="2990088"/>
            <a:ext cx="1250453" cy="310896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Due: ระบุวัน-เวลา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5567" y="2990088"/>
            <a:ext cx="798240" cy="310896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03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ACTION LIFECYCLE</a:t>
            </a:r>
          </a:p>
        </p:txBody>
      </p:sp>
      <p:sp>
        <p:nvSpPr>
          <p:cNvPr id="21" name="Pentagon 20"/>
          <p:cNvSpPr/>
          <p:nvPr/>
        </p:nvSpPr>
        <p:spPr>
          <a:xfrm>
            <a:off x="594360" y="4041648"/>
            <a:ext cx="2382926" cy="868680"/>
          </a:xfrm>
          <a:prstGeom prst="homePlate">
            <a:avLst>
              <a:gd name="adj" fmla="val 28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41648"/>
            <a:ext cx="174284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Open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เปิดงาน</a:t>
            </a:r>
          </a:p>
        </p:txBody>
      </p:sp>
      <p:sp>
        <p:nvSpPr>
          <p:cNvPr id="23" name="Chevron 22"/>
          <p:cNvSpPr/>
          <p:nvPr/>
        </p:nvSpPr>
        <p:spPr>
          <a:xfrm>
            <a:off x="2748686" y="4041648"/>
            <a:ext cx="2382926" cy="868680"/>
          </a:xfrm>
          <a:prstGeom prst="chevron">
            <a:avLst>
              <a:gd name="adj" fmla="val 28000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187598" y="4041648"/>
            <a:ext cx="174284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D3E8F"/>
                </a:solidFill>
                <a:latin typeface="Bai Jamjuree SemiBold"/>
                <a:ea typeface="Bai Jamjuree SemiBold"/>
                <a:cs typeface="Bai Jamjuree SemiBold"/>
              </a:rPr>
              <a:t>In Progress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D3E8F"/>
                </a:solidFill>
                <a:latin typeface="Bai Jamjuree"/>
                <a:ea typeface="Bai Jamjuree"/>
                <a:cs typeface="Bai Jamjuree"/>
              </a:rPr>
              <a:t>กำลังทำ</a:t>
            </a:r>
          </a:p>
        </p:txBody>
      </p:sp>
      <p:sp>
        <p:nvSpPr>
          <p:cNvPr id="25" name="Chevron 24"/>
          <p:cNvSpPr/>
          <p:nvPr/>
        </p:nvSpPr>
        <p:spPr>
          <a:xfrm>
            <a:off x="4903013" y="4041648"/>
            <a:ext cx="2382926" cy="868680"/>
          </a:xfrm>
          <a:prstGeom prst="chevron">
            <a:avLst>
              <a:gd name="adj" fmla="val 28000"/>
            </a:avLst>
          </a:prstGeom>
          <a:solidFill>
            <a:srgbClr val="FD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341925" y="4041648"/>
            <a:ext cx="174284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Done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ทำเสร็จ</a:t>
            </a:r>
          </a:p>
        </p:txBody>
      </p:sp>
      <p:sp>
        <p:nvSpPr>
          <p:cNvPr id="27" name="Chevron 26"/>
          <p:cNvSpPr/>
          <p:nvPr/>
        </p:nvSpPr>
        <p:spPr>
          <a:xfrm>
            <a:off x="7057339" y="4041648"/>
            <a:ext cx="2382926" cy="868680"/>
          </a:xfrm>
          <a:prstGeom prst="chevron">
            <a:avLst>
              <a:gd name="adj" fmla="val 28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6251" y="4041648"/>
            <a:ext cx="174284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Verified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0B5A45"/>
                </a:solidFill>
                <a:latin typeface="Bai Jamjuree"/>
                <a:ea typeface="Bai Jamjuree"/>
                <a:cs typeface="Bai Jamjuree"/>
              </a:rPr>
              <a:t>ยืนยันผล</a:t>
            </a:r>
          </a:p>
        </p:txBody>
      </p:sp>
      <p:sp>
        <p:nvSpPr>
          <p:cNvPr id="29" name="Chevron 28"/>
          <p:cNvSpPr/>
          <p:nvPr/>
        </p:nvSpPr>
        <p:spPr>
          <a:xfrm>
            <a:off x="9211666" y="4041648"/>
            <a:ext cx="2382926" cy="868680"/>
          </a:xfrm>
          <a:prstGeom prst="chevron">
            <a:avLst>
              <a:gd name="adj" fmla="val 28000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50578" y="4041648"/>
            <a:ext cx="1742846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Closed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ปิดพร้อมหลักฐาน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440680"/>
            <a:ext cx="2647188" cy="777240"/>
          </a:xfrm>
          <a:prstGeom prst="roundRect">
            <a:avLst>
              <a:gd name="adj" fmla="val 141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person_pin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292608" cy="2926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61288" y="5440680"/>
            <a:ext cx="19888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หนึ่ง Action = หนึ่ง 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78708" y="5440680"/>
            <a:ext cx="2647188" cy="777240"/>
          </a:xfrm>
          <a:prstGeom prst="roundRect">
            <a:avLst>
              <a:gd name="adj" fmla="val 141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event_repeat_1A66D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5687568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945636" y="5440680"/>
            <a:ext cx="19888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ตรวจความคืบหน้าทุกรอบ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5440680"/>
            <a:ext cx="2647188" cy="777240"/>
          </a:xfrm>
          <a:prstGeom prst="roundRect">
            <a:avLst>
              <a:gd name="adj" fmla="val 141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verified_1A66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5687568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729984" y="5440680"/>
            <a:ext cx="19888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Closed = มี Evidence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7404" y="5440680"/>
            <a:ext cx="2647188" cy="777240"/>
          </a:xfrm>
          <a:prstGeom prst="roundRect">
            <a:avLst>
              <a:gd name="adj" fmla="val 14117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do_not_disturb_on_1A66D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0284" y="5687568"/>
            <a:ext cx="292608" cy="2926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514332" y="5440680"/>
            <a:ext cx="198882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ติดขัด → แสดงเหตุ + ส่งต่อ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9A4A05"/>
              </a:gs>
              <a:gs pos="100000">
                <a:srgbClr val="D9730D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603504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5895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914400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0" y="141732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0" b="1">
                <a:solidFill>
                  <a:srgbClr val="FFFFFF">
                    <a:alpha val="20000"/>
                  </a:srgbClr>
                </a:solidFill>
                <a:latin typeface="Bai Jamjuree"/>
                <a:ea typeface="Bai Jamjuree"/>
                <a:cs typeface="Bai Jamjuree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9776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Stabilize Loop · S4–S5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399032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300">
                <a:solidFill>
                  <a:srgbClr val="E8EEFA"/>
                </a:solidFill>
                <a:latin typeface="Bai Jamjuree SemiBold"/>
                <a:ea typeface="Bai Jamjuree SemiBold"/>
                <a:cs typeface="Bai Jamjuree SemiBold"/>
              </a:rPr>
              <a:t>COMPONENT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46504"/>
            <a:ext cx="694944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Deviation &amp;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Escalation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47872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เห็นความผิดปกติเร็ว ควบคุมผลกระทบ และส่งต่อถูกระดับ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96512"/>
            <a:ext cx="95083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36633" y="4096512"/>
            <a:ext cx="210027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Containment &amp; Correction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28348" y="4096512"/>
            <a:ext cx="126097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Reaction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0767" y="4096512"/>
            <a:ext cx="102718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Escalation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9394" y="4096512"/>
            <a:ext cx="1241143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Risk Next 24h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78408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62456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746504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130552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06040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>
                    <a:alpha val="80000"/>
                  </a:srgbClr>
                </a:solidFill>
                <a:latin typeface="Bai Jamjuree"/>
                <a:ea typeface="Bai Jamjuree"/>
                <a:cs typeface="Bai Jamjuree"/>
              </a:rPr>
              <a:t>Component 3 of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· DEVIATION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Deviation: Gap from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Actual ไม่ตรงกับ Standard / Target / Control Limit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576072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ค่าควบคุมกระบวนการ (ตัวอย่าง)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200400"/>
            <a:ext cx="4297680" cy="1828800"/>
          </a:xfrm>
          <a:prstGeom prst="rect">
            <a:avLst/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960120" y="3200400"/>
            <a:ext cx="4297680" cy="0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60120" y="5029200"/>
            <a:ext cx="4297680" cy="0"/>
          </a:xfrm>
          <a:prstGeom prst="line">
            <a:avLst/>
          </a:prstGeom>
          <a:ln w="19050">
            <a:solidFill>
              <a:srgbClr val="0E8C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0120" y="4114800"/>
            <a:ext cx="4297680" cy="0"/>
          </a:xfrm>
          <a:prstGeom prst="line">
            <a:avLst/>
          </a:prstGeom>
          <a:ln w="15875">
            <a:solidFill>
              <a:srgbClr val="14275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49240" y="30632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Upper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9776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48920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Lower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4069080"/>
            <a:ext cx="436880" cy="22860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579880" y="3977640"/>
            <a:ext cx="436880" cy="32004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6760" y="3977640"/>
            <a:ext cx="436880" cy="41148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53640" y="4023360"/>
            <a:ext cx="436880" cy="36576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890520" y="3794760"/>
            <a:ext cx="436880" cy="22860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327400" y="3794760"/>
            <a:ext cx="436880" cy="45720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764280" y="4114800"/>
            <a:ext cx="436880" cy="13716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201160" y="2971800"/>
            <a:ext cx="436880" cy="114300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38040" y="2971800"/>
            <a:ext cx="436880" cy="1051560"/>
          </a:xfrm>
          <a:prstGeom prst="line">
            <a:avLst/>
          </a:prstGeom>
          <a:ln w="254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78992" y="400507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515872" y="423367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952752" y="391363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389632" y="432511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826512" y="395935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3263392" y="373075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3700272" y="418795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137152" y="405079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500880" y="2834640"/>
            <a:ext cx="274320" cy="274320"/>
          </a:xfrm>
          <a:prstGeom prst="ellipse">
            <a:avLst/>
          </a:prstGeom>
          <a:solidFill>
            <a:srgbClr val="D9730D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20920" y="2788920"/>
            <a:ext cx="1188720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Deviation</a:t>
            </a:r>
          </a:p>
        </p:txBody>
      </p:sp>
      <p:sp>
        <p:nvSpPr>
          <p:cNvPr id="34" name="Oval 33"/>
          <p:cNvSpPr/>
          <p:nvPr/>
        </p:nvSpPr>
        <p:spPr>
          <a:xfrm>
            <a:off x="5010912" y="3959352"/>
            <a:ext cx="128016" cy="128016"/>
          </a:xfrm>
          <a:prstGeom prst="ellipse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68680" y="5715000"/>
            <a:ext cx="969514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ค่าเครื่องจักร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11346" y="5715000"/>
            <a:ext cx="857045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ผลคุณภาพ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41543" y="5715000"/>
            <a:ext cx="430119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KPI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44814" y="5715000"/>
            <a:ext cx="1040204" cy="310896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สภาพหน้างาน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1783080"/>
            <a:ext cx="4965192" cy="1325880"/>
          </a:xfrm>
          <a:prstGeom prst="roundRect">
            <a:avLst>
              <a:gd name="adj" fmla="val 9655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verified_0E8C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2011680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269480" y="19659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85432" y="237744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“เครื่องหยุด 18 นาที จาก Alarm ที่สถานีป้อนฝา”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85432" y="273405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ตรวจสอบได้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246120"/>
            <a:ext cx="4965192" cy="1325880"/>
          </a:xfrm>
          <a:prstGeom prst="roundRect">
            <a:avLst>
              <a:gd name="adj" fmla="val 9655"/>
            </a:avLst>
          </a:prstGeom>
          <a:solidFill>
            <a:srgbClr val="FD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help_D97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3474720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269480" y="34290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Assumption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85432" y="3840480"/>
            <a:ext cx="450799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“เกิดจากพนักงานใช้งานไม่ถูกต้อง”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85432" y="419709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ยังเป็นสมมติฐาน จนกว่าจะมีหลักฐาน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29400" y="4754880"/>
            <a:ext cx="4965192" cy="1508760"/>
          </a:xfrm>
          <a:prstGeom prst="roundRect">
            <a:avLst>
              <a:gd name="adj" fmla="val 8484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timer_7FDB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983480"/>
            <a:ext cx="310896" cy="3108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315200" y="4919472"/>
            <a:ext cx="4096512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พบเร็ว = ควบคุมผลกระทบได้เร็ว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85432" y="5422392"/>
            <a:ext cx="4507992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DCE4F7"/>
                </a:solidFill>
                <a:latin typeface="Bai Jamjuree"/>
                <a:ea typeface="Bai Jamjuree"/>
                <a:cs typeface="Bai Jamjuree"/>
              </a:rPr>
              <a:t>รายงาน Deviation ด้วย Fact ก่อนเสมอ แยก Assumption ไว้ให้ RCA พิสูจน์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· DEVIATION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Containment and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ควบคุมความเสี่ยงก่อน แล้วค่อยหาสาเหตุ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867249" cy="384048"/>
          </a:xfrm>
          <a:prstGeom prst="roundRect">
            <a:avLst>
              <a:gd name="adj" fmla="val 50000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Detect</a:t>
            </a:r>
          </a:p>
        </p:txBody>
      </p:sp>
      <p:pic>
        <p:nvPicPr>
          <p:cNvPr id="7" name="Picture 6" descr="arrow_forward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049" y="1865376"/>
            <a:ext cx="219456" cy="2194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863945" y="1783080"/>
            <a:ext cx="1270771" cy="384048"/>
          </a:xfrm>
          <a:prstGeom prst="roundRect">
            <a:avLst>
              <a:gd name="adj" fmla="val 50000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Assess Risk</a:t>
            </a:r>
          </a:p>
        </p:txBody>
      </p:sp>
      <p:pic>
        <p:nvPicPr>
          <p:cNvPr id="9" name="Picture 8" descr="arrow_forward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156" y="1865376"/>
            <a:ext cx="219456" cy="21945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537052" y="1783080"/>
            <a:ext cx="1936604" cy="384048"/>
          </a:xfrm>
          <a:prstGeom prst="roundRect">
            <a:avLst>
              <a:gd name="adj" fmla="val 5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Follow Reaction Plan</a:t>
            </a:r>
          </a:p>
        </p:txBody>
      </p:sp>
      <p:pic>
        <p:nvPicPr>
          <p:cNvPr id="11" name="Picture 10" descr="arrow_forward_9AA8C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096" y="1865376"/>
            <a:ext cx="219456" cy="21945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875992" y="1783080"/>
            <a:ext cx="1741800" cy="384048"/>
          </a:xfrm>
          <a:prstGeom prst="roundRect">
            <a:avLst>
              <a:gd name="adj" fmla="val 50000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Record &amp; Escalate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377440"/>
            <a:ext cx="5408676" cy="3886200"/>
          </a:xfrm>
          <a:prstGeom prst="roundRect">
            <a:avLst>
              <a:gd name="adj" fmla="val 4235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868680" y="2651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2775204"/>
            <a:ext cx="301752" cy="3017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81912" y="26517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Containment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64992"/>
            <a:ext cx="48600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จำกัดหรือป้องกันผลกระทบไม่ให้ขยายวง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50208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ront_hand_D973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0565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" y="3950208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หยุดกระบวนการที่มีความเสี่ยง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663440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nventory_2_D97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818888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63040" y="4663440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แยกผลิตภัณฑ์ที่อาจได้รับผลกระทบ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76672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lock_D973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532120"/>
            <a:ext cx="274320" cy="2743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63040" y="5376672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ไม่ส่งชิ้นงานไม่ผ่านเกณฑ์ไปต่อ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5916" y="2377440"/>
            <a:ext cx="5408676" cy="3886200"/>
          </a:xfrm>
          <a:prstGeom prst="roundRect">
            <a:avLst>
              <a:gd name="adj" fmla="val 4235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460236" y="265176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buil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2775204"/>
            <a:ext cx="301752" cy="30175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73468" y="26517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Correction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364992"/>
            <a:ext cx="486003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แก้สภาพผิดปกติให้กลับสู่มาตรฐานตามวิธีที่อนุญาต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60236" y="3950208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tune_1A66D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4828" y="4105656"/>
            <a:ext cx="274320" cy="2743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54596" y="3950208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กลับไปใช้ค่าตั้งที่ได้รับอนุญาต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60236" y="4663440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build_1A66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828" y="4818888"/>
            <a:ext cx="274320" cy="274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054596" y="4663440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เปลี่ยนอุปกรณ์ตามขั้นตอน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60236" y="5376672"/>
            <a:ext cx="4860036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warning_C8361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4828" y="553212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054596" y="5376672"/>
            <a:ext cx="41285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Correction ≠ สาเหตุถูกกำจัด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· DEVIATION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Reaction Plan Elements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แนวทางที่กำหนดไว้ก่อนเกิดเหตุ — ไม่ต้องตัดสินใจใหม่ทุกครั้ง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6492240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800600" y="14904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ตัวอย่างสมมติ</a:t>
            </a:r>
          </a:p>
        </p:txBody>
      </p:sp>
      <p:pic>
        <p:nvPicPr>
          <p:cNvPr id="8" name="Picture 7" descr="crisis_alert_D97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84832"/>
            <a:ext cx="292608" cy="292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83080"/>
            <a:ext cx="19202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911096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เงื่อนไขที่ถือว่าผิดปกติ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40280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Seal temp ต่ำกว่าค่าควบคุม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679192"/>
            <a:ext cx="6126480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pan_tool_D97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80944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71600" y="2679192"/>
            <a:ext cx="19202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Immediate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07208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หยุด / ควบคุม / แยก / ตรวจ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36392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หยุดเครื่อง แยกสินค้าช่วงที่ผิดปกติ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575304"/>
            <a:ext cx="6126480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campaign_D973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77056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3575304"/>
            <a:ext cx="19202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Notify &amp; Response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70332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แจ้งใคร ภายในเวลาเท่าไร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32504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แจ้งหัวหน้ากะ และ QA ทันที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4471416"/>
            <a:ext cx="6126480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restart_alt_D973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773168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1600" y="4471416"/>
            <a:ext cx="19202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Restart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599432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ใครอนุญาต ด้วยหลักฐานอะไร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92861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QA ยืนยันผลตรวจซีลก่อนเดินต่อ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7240" y="5367528"/>
            <a:ext cx="6126480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link_D9730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669280"/>
            <a:ext cx="292608" cy="29260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71600" y="5367528"/>
            <a:ext cx="1920240" cy="8961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Linked Standards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495544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WI · Control Plan · Safety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824728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WI ตั้งเครื่องซีล · Control Plan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1783080"/>
            <a:ext cx="4233672" cy="4480560"/>
          </a:xfrm>
          <a:prstGeom prst="roundRect">
            <a:avLst>
              <a:gd name="adj" fmla="val 3887"/>
            </a:avLst>
          </a:prstGeom>
          <a:gradFill rotWithShape="1">
            <a:gsLst>
              <a:gs pos="0">
                <a:srgbClr val="A9500A"/>
              </a:gs>
              <a:gs pos="100000">
                <a:srgbClr val="E07B12"/>
              </a:gs>
            </a:gsLst>
            <a:lin scaled="0" ang="36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warnin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80360"/>
            <a:ext cx="548640" cy="5486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680960" y="3566160"/>
            <a:ext cx="36850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Running ≠ Released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4160520"/>
            <a:ext cx="3639312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เครื่องกลับมาเดินได้ ไม่ได้แปลว่าเงื่อนไขด้านความปลอดภัยหรือคุณภาพได้รับการยืนยันครบแล้ว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5486400"/>
            <a:ext cx="363931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>
                    <a:alpha val="85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Restart ต้องผ่าน Restart Criteria เสมอ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03 · DEVIATION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Escalation: Right Issue, Right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2759202" cy="749808"/>
          </a:xfrm>
          <a:prstGeom prst="rect">
            <a:avLst/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247573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Right Issue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เรื่องที่ต้องส่งจริง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4418" y="1325880"/>
            <a:ext cx="2759202" cy="749808"/>
          </a:xfrm>
          <a:prstGeom prst="rect">
            <a:avLst/>
          </a:prstGeom>
          <a:solidFill>
            <a:srgbClr val="FBD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27298" y="1325880"/>
            <a:ext cx="247573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Right Level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4A05"/>
                </a:solidFill>
                <a:latin typeface="Bai Jamjuree"/>
                <a:ea typeface="Bai Jamjuree"/>
                <a:cs typeface="Bai Jamjuree"/>
              </a:rPr>
              <a:t>ระดับที่มีอำนาจ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325880"/>
            <a:ext cx="2759202" cy="749808"/>
          </a:xfrm>
          <a:prstGeom prst="rect">
            <a:avLst/>
          </a:prstGeom>
          <a:solidFill>
            <a:srgbClr val="F6C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77356" y="1325880"/>
            <a:ext cx="247573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7A3B04"/>
                </a:solidFill>
                <a:latin typeface="Bai Jamjuree SemiBold"/>
                <a:ea typeface="Bai Jamjuree SemiBold"/>
                <a:cs typeface="Bai Jamjuree SemiBold"/>
              </a:rPr>
              <a:t>Right Time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A3B04"/>
                </a:solidFill>
                <a:latin typeface="Bai Jamjuree"/>
                <a:ea typeface="Bai Jamjuree"/>
                <a:cs typeface="Bai Jamjuree"/>
              </a:rPr>
              <a:t>ก่อนความเสียหายเพิ่ม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44534" y="1325880"/>
            <a:ext cx="2759202" cy="749808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27414" y="1325880"/>
            <a:ext cx="2475738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Right Decision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ได้การตัดสินใจที่ต้องการ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31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ESCALATE WHEN</a:t>
            </a:r>
          </a:p>
        </p:txBody>
      </p:sp>
      <p:pic>
        <p:nvPicPr>
          <p:cNvPr id="14" name="Picture 13" descr="health_and_safety_C836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752344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3272" y="269748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Risk สูงตามเกณฑ์ → ทันที</a:t>
            </a:r>
          </a:p>
        </p:txBody>
      </p:sp>
      <p:pic>
        <p:nvPicPr>
          <p:cNvPr id="16" name="Picture 15" descr="trending_down_D97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19272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33272" y="326440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Impact กระทบหลายหน่วยงาน</a:t>
            </a:r>
          </a:p>
        </p:txBody>
      </p:sp>
      <p:pic>
        <p:nvPicPr>
          <p:cNvPr id="18" name="Picture 17" descr="lock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886200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3272" y="3831336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เกินขอบเขตอำนาจของระดับนั้น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26280"/>
            <a:ext cx="4023360" cy="658368"/>
          </a:xfrm>
          <a:prstGeom prst="roundRect">
            <a:avLst>
              <a:gd name="adj" fmla="val 16666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close_C8361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70916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43000" y="4526280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“เครื่องมีปัญหา” — ไม่พอให้ตัดสินใจ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532180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check_0E8C6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64184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43000" y="5321808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บอกครบ 4 ช่อง ใน 1 นาที — ผู้รับตัดสินใจได้ทันทีโดยไม่ต้องถามกลับ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331720"/>
            <a:ext cx="6748272" cy="3904488"/>
          </a:xfrm>
          <a:prstGeom prst="roundRect">
            <a:avLst>
              <a:gd name="adj" fmla="val 4215"/>
            </a:avLst>
          </a:prstGeom>
          <a:solidFill>
            <a:srgbClr val="14275A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0" y="2514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Escalation Message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85832" y="2551176"/>
            <a:ext cx="1022608" cy="274320"/>
          </a:xfrm>
          <a:prstGeom prst="roundRect">
            <a:avLst>
              <a:gd name="adj" fmla="val 50000"/>
            </a:avLst>
          </a:prstGeom>
          <a:solidFill>
            <a:srgbClr val="2A3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C98F"/>
                </a:solidFill>
                <a:latin typeface="Bai Jamjuree SemiBold"/>
                <a:ea typeface="Bai Jamjuree SemiBold"/>
                <a:cs typeface="Bai Jamjuree SemiBold"/>
              </a:rPr>
              <a:t>ตัวอย่างสมมติ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20640" y="2990088"/>
            <a:ext cx="6199632" cy="0"/>
          </a:xfrm>
          <a:prstGeom prst="line">
            <a:avLst/>
          </a:prstGeom>
          <a:ln w="12700">
            <a:solidFill>
              <a:srgbClr val="344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120640" y="3063240"/>
            <a:ext cx="1600200" cy="701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C98F"/>
                </a:solidFill>
                <a:latin typeface="Bai Jamjuree SemiBold"/>
                <a:ea typeface="Bai Jamjuree SemiBold"/>
                <a:cs typeface="Bai Jamjuree SemiBold"/>
              </a:rPr>
              <a:t>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81528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C0E8"/>
                </a:solidFill>
                <a:latin typeface="Bai Jamjuree"/>
                <a:ea typeface="Bai Jamjuree"/>
                <a:cs typeface="Bai Jamjuree"/>
              </a:rPr>
              <a:t>เหตุการณ์จริง ที่ไหน เมื่อไร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374136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Filler Line A หยุด 45 นาที จาก Alarm ชุดป้อนฝา (กะเช้า)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20640" y="3783330"/>
            <a:ext cx="6199632" cy="0"/>
          </a:xfrm>
          <a:prstGeom prst="line">
            <a:avLst/>
          </a:prstGeom>
          <a:ln w="12700">
            <a:solidFill>
              <a:srgbClr val="344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20640" y="3856482"/>
            <a:ext cx="1600200" cy="701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C98F"/>
                </a:solidFill>
                <a:latin typeface="Bai Jamjuree SemiBold"/>
                <a:ea typeface="Bai Jamjuree SemiBold"/>
                <a:cs typeface="Bai Jamjuree SemiBold"/>
              </a:rPr>
              <a:t>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874770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C0E8"/>
                </a:solidFill>
                <a:latin typeface="Bai Jamjuree"/>
                <a:ea typeface="Bai Jamjuree"/>
                <a:cs typeface="Bai Jamjuree"/>
              </a:rPr>
              <a:t>ผลกระทบที่ทราบ ณ เวลานั้น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167378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Output ต่ำกว่าแผน กระทบ Order ส่งรอบบ่าย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20640" y="4576572"/>
            <a:ext cx="6199632" cy="0"/>
          </a:xfrm>
          <a:prstGeom prst="line">
            <a:avLst/>
          </a:prstGeom>
          <a:ln w="12700">
            <a:solidFill>
              <a:srgbClr val="344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120640" y="4649724"/>
            <a:ext cx="1600200" cy="701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C98F"/>
                </a:solidFill>
                <a:latin typeface="Bai Jamjuree SemiBold"/>
                <a:ea typeface="Bai Jamjuree SemiBold"/>
                <a:cs typeface="Bai Jamjuree SemiBold"/>
              </a:rPr>
              <a:t>Done So Far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4668012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C0E8"/>
                </a:solidFill>
                <a:latin typeface="Bai Jamjuree"/>
                <a:ea typeface="Bai Jamjuree"/>
                <a:cs typeface="Bai Jamjuree"/>
              </a:rPr>
              <a:t>การควบคุมที่ทำไปแล้ว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960620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ใช้ชุดป้อนฝาสำรอง · แยกสินค้าช่วง Alarm รอ QA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120640" y="5369814"/>
            <a:ext cx="6199632" cy="0"/>
          </a:xfrm>
          <a:prstGeom prst="line">
            <a:avLst/>
          </a:prstGeom>
          <a:ln w="12700">
            <a:solidFill>
              <a:srgbClr val="344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120640" y="5442966"/>
            <a:ext cx="1600200" cy="7018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C98F"/>
                </a:solidFill>
                <a:latin typeface="Bai Jamjuree SemiBold"/>
                <a:ea typeface="Bai Jamjuree SemiBold"/>
                <a:cs typeface="Bai Jamjuree SemiBold"/>
              </a:rPr>
              <a:t>Need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61254"/>
            <a:ext cx="4553712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FC0E8"/>
                </a:solidFill>
                <a:latin typeface="Bai Jamjuree"/>
                <a:ea typeface="Bai Jamjuree"/>
                <a:cs typeface="Bai Jamjuree"/>
              </a:rPr>
              <a:t>การตัดสินใจหรือความช่วยเหลือที่ต้องการ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753862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อนุมัติสั่งอะไหล่ด่วน และช่างเสริมกะบ่าย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03 · DEVIATION &amp;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Risk in the Next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เห็นความเสี่ยงก่อนกลายเป็นปัญหา — จากสัญญาณที่มีหลักฐาน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487168" cy="2167128"/>
          </a:xfrm>
          <a:prstGeom prst="roundRect">
            <a:avLst>
              <a:gd name="adj" fmla="val 6751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health_and_safety_C836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39112"/>
            <a:ext cx="384048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560320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สัญญาณตัวอย่าง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21214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งานซ่อมที่ต้อง Lock-out ในกะบ่าย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783080"/>
            <a:ext cx="2487168" cy="2167128"/>
          </a:xfrm>
          <a:prstGeom prst="roundRect">
            <a:avLst>
              <a:gd name="adj" fmla="val 6751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verified_3F51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32" y="203911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56432" y="2560320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3108960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สัญญาณตัวอย่าง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355848"/>
            <a:ext cx="21214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วัตถุดิบ Lot ใหม่ ยังไม่มีผลตรวจรับ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96512"/>
            <a:ext cx="2487168" cy="2167128"/>
          </a:xfrm>
          <a:prstGeom prst="roundRect">
            <a:avLst>
              <a:gd name="adj" fmla="val 6751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local_shipping_1A66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52544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" y="4873752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422392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สัญญาณตัวอย่าง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21214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Order ด่วนเข้าแผน ไม่มี Buffer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7832" y="4096512"/>
            <a:ext cx="2487168" cy="2167128"/>
          </a:xfrm>
          <a:prstGeom prst="roundRect">
            <a:avLst>
              <a:gd name="adj" fmla="val 6751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precision_manufacturing_0E8C6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6432" y="4352544"/>
            <a:ext cx="384048" cy="3840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56432" y="4873752"/>
            <a:ext cx="212140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Equipment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56432" y="5422392"/>
            <a:ext cx="212140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สัญญาณตัวอย่าง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6432" y="5669280"/>
            <a:ext cx="2121408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อะไหล่สำคัญเสื่อมจากผล CIL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0176" y="1783080"/>
            <a:ext cx="5614416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54496" y="2011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Risk Card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85832" y="2057400"/>
            <a:ext cx="1022608" cy="274320"/>
          </a:xfrm>
          <a:prstGeom prst="roundRect">
            <a:avLst>
              <a:gd name="adj" fmla="val 5000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ตัวอย่างสมมติ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54496" y="2532888"/>
            <a:ext cx="506577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54496" y="2532888"/>
            <a:ext cx="173736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7576" y="2532888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อะไหล่สำคัญเสื่อม อาจกระทบกะถัดไป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54496" y="3118104"/>
            <a:ext cx="506577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4496" y="3118104"/>
            <a:ext cx="173736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7576" y="3118104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ผลตรวจสภาพจาก CIL กะนี้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54496" y="3703320"/>
            <a:ext cx="506577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54496" y="3703320"/>
            <a:ext cx="173736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Impact · When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3703320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เครื่องหยุดระหว่างกะบ่าย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54496" y="4288536"/>
            <a:ext cx="506577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54496" y="4288536"/>
            <a:ext cx="173736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Countermeasure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37576" y="4288536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เตรียมอะไหล่ · วางแผนเปลี่ยนช่วงเปลี่ยนกะ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254496" y="4873752"/>
            <a:ext cx="506577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254496" y="4873752"/>
            <a:ext cx="1737360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37576" y="4873752"/>
            <a:ext cx="332841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ช่างซ่อมบำรุงประจำไลน์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54496" y="5641848"/>
            <a:ext cx="5065776" cy="438912"/>
          </a:xfrm>
          <a:prstGeom prst="roundRect">
            <a:avLst>
              <a:gd name="adj" fmla="val 20833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ไม่มี Evidence = ยังไม่ใช่ Risk ที่ต้องลงบอร์ด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8E2414"/>
              </a:gs>
              <a:gs pos="100000">
                <a:srgbClr val="C8361F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603504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5895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914400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0" y="141732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0" b="1">
                <a:solidFill>
                  <a:srgbClr val="FFFFFF">
                    <a:alpha val="20000"/>
                  </a:srgbClr>
                </a:solidFill>
                <a:latin typeface="Bai Jamjuree"/>
                <a:ea typeface="Bai Jamjuree"/>
                <a:cs typeface="Bai Jamjuree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9776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S5–S6 · Node 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300">
                <a:solidFill>
                  <a:srgbClr val="E8EEFA"/>
                </a:solidFill>
                <a:latin typeface="Bai Jamjuree SemiBold"/>
                <a:ea typeface="Bai Jamjuree SemiBold"/>
                <a:cs typeface="Bai Jamjuree SemiBold"/>
              </a:rPr>
              <a:t>COMPONENT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RCA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กำจัดสาเหตุของปัญหาสำคัญหรือปัญหาซ้ำ — ไม่ใช่แค่แก้อาการ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101879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Fix Ladder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04594" y="3703320"/>
            <a:ext cx="1186124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RCA Triggers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2158" y="3703320"/>
            <a:ext cx="70286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5W2H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6460" y="3703320"/>
            <a:ext cx="162413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5 Whys &amp; Fishbone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2032" y="3703320"/>
            <a:ext cx="95066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RCA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978408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62456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746504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130552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06040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>
                    <a:alpha val="80000"/>
                  </a:srgbClr>
                </a:solidFill>
                <a:latin typeface="Bai Jamjuree"/>
                <a:ea typeface="Bai Jamjuree"/>
                <a:cs typeface="Bai Jamjuree"/>
              </a:rPr>
              <a:t>Component 4 of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 · RCA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From Correction to Root Cause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9A4A05"/>
                </a:solidFill>
                <a:latin typeface="Bai Jamjuree SemiBold"/>
                <a:ea typeface="Bai Jamjuree SemiBold"/>
                <a:cs typeface="Bai Jamjuree SemiBold"/>
              </a:rPr>
              <a:t>แก้อาการ · This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27632"/>
            <a:ext cx="4327398" cy="45720"/>
          </a:xfrm>
          <a:prstGeom prst="rect">
            <a:avLst/>
          </a:prstGeom>
          <a:solidFill>
            <a:srgbClr val="D97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104638" y="129844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แก้สาเหตุ · Never Again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104638" y="1627632"/>
            <a:ext cx="6489954" cy="45720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94360" y="4114800"/>
            <a:ext cx="2075688" cy="2148840"/>
          </a:xfrm>
          <a:prstGeom prst="roundRect">
            <a:avLst>
              <a:gd name="adj" fmla="val 7048"/>
            </a:avLst>
          </a:prstGeom>
          <a:solidFill>
            <a:srgbClr val="FCE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hield_D97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343400"/>
            <a:ext cx="347472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528" y="480060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Containment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16636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ป้องกันผลกระทบขยายวง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5806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D9730D">
                    <a:alpha val="60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8356" y="3566160"/>
            <a:ext cx="2075688" cy="2697480"/>
          </a:xfrm>
          <a:prstGeom prst="roundRect">
            <a:avLst>
              <a:gd name="adj" fmla="val 7048"/>
            </a:avLst>
          </a:prstGeom>
          <a:solidFill>
            <a:srgbClr val="FBE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uild_9A4A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9524" y="3794760"/>
            <a:ext cx="347472" cy="3474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9524" y="425196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9524" y="461772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ให้สภาพกลับมาปกติในครั้งนี้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9524" y="5806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9A4A05">
                    <a:alpha val="60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02352" y="3017520"/>
            <a:ext cx="2075688" cy="3246120"/>
          </a:xfrm>
          <a:prstGeom prst="roundRect">
            <a:avLst>
              <a:gd name="adj" fmla="val 7048"/>
            </a:avLst>
          </a:prstGeom>
          <a:solidFill>
            <a:srgbClr val="F5B7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roubleshoot_8E24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3246120"/>
            <a:ext cx="347472" cy="3474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03520" y="370332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406908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หาสาเหตุจากหลักฐานจริง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806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8E2414">
                    <a:alpha val="60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56348" y="2468880"/>
            <a:ext cx="2075688" cy="3794760"/>
          </a:xfrm>
          <a:prstGeom prst="roundRect">
            <a:avLst>
              <a:gd name="adj" fmla="val 7048"/>
            </a:avLst>
          </a:prstGeom>
          <a:solidFill>
            <a:srgbClr val="D94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handyman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7516" y="2697480"/>
            <a:ext cx="347472" cy="3474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57516" y="315468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Corrective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6" y="352044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แก้สาเหตุเพื่อป้องกันการเกิดซ้ำ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7516" y="5806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>
                    <a:alpha val="60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10344" y="1920240"/>
            <a:ext cx="2075688" cy="4343400"/>
          </a:xfrm>
          <a:prstGeom prst="roundRect">
            <a:avLst>
              <a:gd name="adj" fmla="val 7048"/>
            </a:avLst>
          </a:prstGeom>
          <a:solidFill>
            <a:srgbClr val="9E2513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verifie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1512" y="2148840"/>
            <a:ext cx="34747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11512" y="260604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971800"/>
            <a:ext cx="1755648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ยืนยันว่ามาตรการได้ผลจริง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1512" y="580644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>
                    <a:alpha val="60000"/>
                  </a:srgbClr>
                </a:solidFill>
                <a:latin typeface="Bai Jamjuree SemiBold"/>
                <a:ea typeface="Bai Jamjuree SemiBold"/>
                <a:cs typeface="Bai Jamjuree SemiBold"/>
              </a:rPr>
              <a:t>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 · RCA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When to Open an RCA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ใช้เกณฑ์ RCA / BDA ตาม WI ที่ประกาศใช้ ไม่ตัดสินจากความรู้สึก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651760" cy="352044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50392" y="20574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ealth_and_safety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" y="2197303"/>
            <a:ext cx="341986" cy="341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286207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High Risk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447288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Safety · Food Safety ·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15968"/>
            <a:ext cx="2286000" cy="804672"/>
          </a:xfrm>
          <a:prstGeom prst="roundRect">
            <a:avLst>
              <a:gd name="adj" fmla="val 11363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เช่น พบสิ่งแปลกปลอมในผลิตภัณฑ์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7969" y="1783080"/>
            <a:ext cx="2651760" cy="352044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664001" y="20574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repea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04" y="2197303"/>
            <a:ext cx="341986" cy="3419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64001" y="286207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Recurring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4001" y="3447288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เกิดซ้ำ หรือมีแนวโน้มกลับมาอีก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90849" y="4315968"/>
            <a:ext cx="2286000" cy="804672"/>
          </a:xfrm>
          <a:prstGeom prst="roundRect">
            <a:avLst>
              <a:gd name="adj" fmla="val 11363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เช่น Alarm ชุดป้อนฝาซ้ำทุกสัปดาห์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1578" y="1783080"/>
            <a:ext cx="2651760" cy="352044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477610" y="20574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settings_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513" y="2197303"/>
            <a:ext cx="341986" cy="34198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77610" y="286207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Loss / Breakdown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610" y="3447288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Downtime หรือ Breakdown ที่เข้าเกณฑ์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4458" y="4315968"/>
            <a:ext cx="2286000" cy="804672"/>
          </a:xfrm>
          <a:prstGeom prst="roundRect">
            <a:avLst>
              <a:gd name="adj" fmla="val 11363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เช่น Breakdown เกินเกณฑ์นาทีใน WI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35186" y="1783080"/>
            <a:ext cx="2651760" cy="3520440"/>
          </a:xfrm>
          <a:prstGeom prst="roundRect">
            <a:avLst>
              <a:gd name="adj" fmla="val 482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291218" y="2057400"/>
            <a:ext cx="621792" cy="621792"/>
          </a:xfrm>
          <a:prstGeom prst="roundRect">
            <a:avLst>
              <a:gd name="adj" fmla="val 20588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priority_hig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1122" y="2197303"/>
            <a:ext cx="341986" cy="34198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91218" y="2862072"/>
            <a:ext cx="224028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Quick Fix Not Enough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1218" y="3447288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ประเด็นสำคัญที่แก้เฉพาะหน้าไม่พอ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18066" y="4315968"/>
            <a:ext cx="2286000" cy="804672"/>
          </a:xfrm>
          <a:prstGeom prst="roundRect">
            <a:avLst>
              <a:gd name="adj" fmla="val 11363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28016" bIns="128016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E2414"/>
                </a:solidFill>
                <a:latin typeface="Bai Jamjuree"/>
                <a:ea typeface="Bai Jamjuree"/>
                <a:cs typeface="Bai Jamjuree"/>
              </a:rPr>
              <a:t>เช่น Correction แล้วแต่ยังหลุดเป้า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5408676" cy="713232"/>
          </a:xfrm>
          <a:prstGeom prst="roundRect">
            <a:avLst>
              <a:gd name="adj" fmla="val 15384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check_circle_C8361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733288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80160" y="5532120"/>
            <a:ext cx="4585716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เข้าเกณฑ์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เปิด RCA / BDA · ติดตามใน SIM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5916" y="5532120"/>
            <a:ext cx="5408676" cy="713232"/>
          </a:xfrm>
          <a:prstGeom prst="roundRect">
            <a:avLst>
              <a:gd name="adj" fmla="val 15384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sync_0E8C6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4516" y="5733288"/>
            <a:ext cx="310896" cy="31089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71716" y="5532120"/>
            <a:ext cx="4585716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ยังไม่เข้าเกณฑ์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ยังต้องแก้และติดตามผ่าน DMS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 · RCA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Problem Statement with 5W2H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ทุกคนต้องวิเคราะห์เหตุการณ์เดียวกัน ด้วยขอบเขตเดียวกัน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What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ผิดปกติอะไร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16936" y="1783080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Where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เกิดที่ไหน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15768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When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เมื่อไร กะไหน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6" y="2715768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Who / Which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คนหรือเครื่องจักรใด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648456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How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เกิดขึ้นอย่างไร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6936" y="3648456"/>
            <a:ext cx="2212848" cy="822960"/>
          </a:xfrm>
          <a:prstGeom prst="roundRect">
            <a:avLst>
              <a:gd name="adj" fmla="val 13333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How Much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C9D6FF"/>
                </a:solidFill>
                <a:latin typeface="Bai Jamjuree"/>
                <a:ea typeface="Bai Jamjuree"/>
                <a:cs typeface="Bai Jamjuree"/>
              </a:rPr>
              <a:t>กระทบเท่าไร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617720"/>
            <a:ext cx="4535424" cy="502920"/>
          </a:xfrm>
          <a:prstGeom prst="roundRect">
            <a:avLst>
              <a:gd name="adj" fmla="val 18181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+ Actual เทียบกับ Standard /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257800"/>
            <a:ext cx="4535424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2H ที่ทีมมักลืม: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How Much ต้องเป็นตัวเลข (ครั้ง · นาที · ชิ้น) ไม่ใช่ “บ่อย” หรือ “เยอะ”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1536" y="1783080"/>
            <a:ext cx="6163056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F2B8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lose_C836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6" y="1892808"/>
            <a:ext cx="237744" cy="2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0176" y="184708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Vague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2194560"/>
            <a:ext cx="570585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“เครื่องบรรจุมีปัญหาบ่อย”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31536" y="2834640"/>
            <a:ext cx="6163056" cy="3410712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 w="15875">
            <a:solidFill>
              <a:srgbClr val="A9DCC9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check_0E8C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2953512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80176" y="2907792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Specific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0136" y="3273552"/>
            <a:ext cx="5705856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“เครื่องบรรจุ Line A หยุดจาก Alarm ชุดป้อนฝา 4 ครั้ง รวม 32 นาที ระหว่างกะเช้า”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0136" y="4133088"/>
            <a:ext cx="570585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0136" y="413308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Which /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4133088"/>
            <a:ext cx="38770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เครื่องบรรจุ Line 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0136" y="4608576"/>
            <a:ext cx="570585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0136" y="46085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43216" y="4608576"/>
            <a:ext cx="38770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หยุดจาก Alarm ชุดป้อนฝา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0136" y="5084064"/>
            <a:ext cx="570585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0136" y="5084064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How Much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5084064"/>
            <a:ext cx="38770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4 ครั้ง · รวม 32 นาที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0136" y="5559552"/>
            <a:ext cx="5705856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0136" y="5559552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When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3216" y="5559552"/>
            <a:ext cx="3877056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กะเช้า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 · RCA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5 Whys and Fishbone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ไล่จากอาการถึงสาเหตุที่จัดการได้ · ทุกปัจจัยเป็นสมมติฐานจนพิสูจน์ด้วยข้อมูล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5 WHYS · ตัวอย่างสมมติ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5120640" cy="548640"/>
          </a:xfrm>
          <a:prstGeom prst="roundRect">
            <a:avLst>
              <a:gd name="adj" fmla="val 16666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Why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148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เครื่องหยุด ← ชุดป้อนฝาติดขัด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" y="2807208"/>
            <a:ext cx="4919472" cy="548640"/>
          </a:xfrm>
          <a:prstGeom prst="roundRect">
            <a:avLst>
              <a:gd name="adj" fmla="val 16666"/>
            </a:avLst>
          </a:prstGeom>
          <a:solidFill>
            <a:srgbClr val="F8D5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807208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Why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807208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รางนำฝาเยื้องศูนย์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" y="3465576"/>
            <a:ext cx="4718304" cy="548640"/>
          </a:xfrm>
          <a:prstGeom prst="roundRect">
            <a:avLst>
              <a:gd name="adj" fmla="val 16666"/>
            </a:avLst>
          </a:prstGeom>
          <a:solidFill>
            <a:srgbClr val="F3B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33856" y="3465576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Why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465576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ปรับตั้งหลังเปลี่ยนรุ่นไม่เท่ากัน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7864" y="4123944"/>
            <a:ext cx="4517136" cy="548640"/>
          </a:xfrm>
          <a:prstGeom prst="roundRect">
            <a:avLst>
              <a:gd name="adj" fmla="val 16666"/>
            </a:avLst>
          </a:prstGeom>
          <a:solidFill>
            <a:srgbClr val="D94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35024" y="4123944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123944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ไม่มีค่า Centerline มาตรฐาน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37760"/>
            <a:ext cx="5120640" cy="566928"/>
          </a:xfrm>
          <a:prstGeom prst="roundRect">
            <a:avLst>
              <a:gd name="adj" fmla="val 1612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Countermeasure: </a:t>
            </a:r>
            <a:r>
              <a:rPr sz="12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กำหนด Centerline + ใส่ใน WI เปลี่ยนรุ่น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23560"/>
            <a:ext cx="5120640" cy="621792"/>
          </a:xfrm>
          <a:prstGeom prst="roundRect">
            <a:avLst>
              <a:gd name="adj" fmla="val 17647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do_not_disturb_on_FF9C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779008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5623560"/>
            <a:ext cx="438912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อย่าหยุดที่ “พนักงานผิดพลาด” — ถามต่อว่าระบบเปิดช่องให้ผิดได้อย่างไร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1783080"/>
            <a:ext cx="5605272" cy="4462272"/>
          </a:xfrm>
          <a:prstGeom prst="roundRect">
            <a:avLst>
              <a:gd name="adj" fmla="val 2868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7920" y="1947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FISHBONE · 6M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63640" y="4069080"/>
            <a:ext cx="4142232" cy="0"/>
          </a:xfrm>
          <a:prstGeom prst="line">
            <a:avLst/>
          </a:prstGeom>
          <a:ln w="38100">
            <a:solidFill>
              <a:srgbClr val="142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405872" y="3685032"/>
            <a:ext cx="1005840" cy="768096"/>
          </a:xfrm>
          <a:prstGeom prst="roundRect">
            <a:avLst>
              <a:gd name="adj" fmla="val 11904"/>
            </a:avLst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Problem</a:t>
            </a:r>
          </a:p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ฝาติดขัด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744157" y="301752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0653" y="223113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40653" y="2505456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ทักษะปรับตั้งหลังเปลี่ยนรุ่น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33461" y="301752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29957" y="223113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Machine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957" y="2505456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รางนำฝาสึก / เยื้องศูนย์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2765" y="301752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719261" y="223113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Method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19261" y="2505456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ไม่มีค่า Centerline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744157" y="406908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40653" y="515721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0653" y="5413248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ขนาดฝาต่างล็อต</a:t>
            </a:r>
          </a:p>
        </p:txBody>
      </p:sp>
      <p:cxnSp>
        <p:nvCxnSpPr>
          <p:cNvPr id="39" name="Connector 38"/>
          <p:cNvCxnSpPr/>
          <p:nvPr/>
        </p:nvCxnSpPr>
        <p:spPr>
          <a:xfrm flipV="1">
            <a:off x="8033461" y="406908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29957" y="515721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Measure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957" y="5413248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ไม่มีจุดตรวจตำแหน่งราง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9322765" y="4069080"/>
            <a:ext cx="457200" cy="1051560"/>
          </a:xfrm>
          <a:prstGeom prst="line">
            <a:avLst/>
          </a:prstGeom>
          <a:ln w="25400">
            <a:solidFill>
              <a:srgbClr val="9AB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19261" y="5157216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Environ.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9261" y="5413248"/>
            <a:ext cx="1207008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ฝุ่น / ความชื้นในห้องบรรจุ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5916168"/>
            <a:ext cx="5148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สาเหตุในแต่ละก้างเป็นสมมติฐานตัวอย่าง — ยืนยันด้วยข้อมูลก่อนสรุป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04 · RCA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RCA Flow within DMS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เชื่อม SIM · BDA · มาตรฐาน — จนกลับเข้าวง Stabilize</a:t>
            </a:r>
          </a:p>
        </p:txBody>
      </p:sp>
      <p:sp>
        <p:nvSpPr>
          <p:cNvPr id="6" name="Oval 5"/>
          <p:cNvSpPr/>
          <p:nvPr/>
        </p:nvSpPr>
        <p:spPr>
          <a:xfrm>
            <a:off x="1053846" y="1965960"/>
            <a:ext cx="914400" cy="914400"/>
          </a:xfrm>
          <a:prstGeom prst="ellipse">
            <a:avLst/>
          </a:prstGeom>
          <a:solidFill>
            <a:srgbClr val="D9730D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sensors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2203704"/>
            <a:ext cx="438912" cy="4389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KPI / หน้างาน</a:t>
            </a:r>
          </a:p>
        </p:txBody>
      </p:sp>
      <p:pic>
        <p:nvPicPr>
          <p:cNvPr id="10" name="Picture 9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2304288"/>
            <a:ext cx="237744" cy="237744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887218" y="1965960"/>
            <a:ext cx="914400" cy="914400"/>
          </a:xfrm>
          <a:prstGeom prst="ellipse">
            <a:avLst/>
          </a:prstGeom>
          <a:solidFill>
            <a:srgbClr val="D9730D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4962" y="2203704"/>
            <a:ext cx="438912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427732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Contain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3452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ควบคุมความเสี่ยง</a:t>
            </a:r>
          </a:p>
        </p:txBody>
      </p:sp>
      <p:pic>
        <p:nvPicPr>
          <p:cNvPr id="15" name="Picture 14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32" y="2304288"/>
            <a:ext cx="237744" cy="2377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4720590" y="1965960"/>
            <a:ext cx="914400" cy="914400"/>
          </a:xfrm>
          <a:prstGeom prst="ellipse">
            <a:avLst/>
          </a:prstGeom>
          <a:solidFill>
            <a:srgbClr val="C8361F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ul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8334" y="2203704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61104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Check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RCA / BDA</a:t>
            </a:r>
          </a:p>
        </p:txBody>
      </p:sp>
      <p:pic>
        <p:nvPicPr>
          <p:cNvPr id="20" name="Picture 19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04" y="2304288"/>
            <a:ext cx="237744" cy="237744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6553962" y="1965960"/>
            <a:ext cx="914400" cy="914400"/>
          </a:xfrm>
          <a:prstGeom prst="ellipse">
            <a:avLst/>
          </a:prstGeom>
          <a:solidFill>
            <a:srgbClr val="1A66D9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group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1706" y="2203704"/>
            <a:ext cx="438912" cy="4389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4476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Track in SIM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0196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ความคืบหน้า</a:t>
            </a:r>
          </a:p>
        </p:txBody>
      </p:sp>
      <p:pic>
        <p:nvPicPr>
          <p:cNvPr id="25" name="Picture 24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76" y="2304288"/>
            <a:ext cx="237744" cy="237744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8387334" y="1965960"/>
            <a:ext cx="914400" cy="914400"/>
          </a:xfrm>
          <a:prstGeom prst="ellipse">
            <a:avLst/>
          </a:prstGeom>
          <a:solidFill>
            <a:srgbClr val="8E2414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verifie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5078" y="2203704"/>
            <a:ext cx="438912" cy="4389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27848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Verify &amp; Close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ด้วยหลักฐาน</a:t>
            </a:r>
          </a:p>
        </p:txBody>
      </p:sp>
      <p:pic>
        <p:nvPicPr>
          <p:cNvPr id="30" name="Picture 29" descr="arrow_forward_9AA8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2348" y="2304288"/>
            <a:ext cx="237744" cy="237744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0220706" y="1965960"/>
            <a:ext cx="914400" cy="914400"/>
          </a:xfrm>
          <a:prstGeom prst="ellipse">
            <a:avLst/>
          </a:prstGeom>
          <a:solidFill>
            <a:srgbClr val="0E8C6C"/>
          </a:soli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description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450" y="2203704"/>
            <a:ext cx="438912" cy="4389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61220" y="2990088"/>
            <a:ext cx="18333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Update Standard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6940" y="3319272"/>
            <a:ext cx="174193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WI · SOP · Control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160520"/>
            <a:ext cx="3575304" cy="8229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person_C8361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4425696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52728" y="4160520"/>
            <a:ext cx="279806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เจ้าของ RCA ชัดเจน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4160520"/>
            <a:ext cx="3575304" cy="8229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calendar_today_C8361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5424" y="4425696"/>
            <a:ext cx="292608" cy="29260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65192" y="4160520"/>
            <a:ext cx="279806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Plan &amp; Due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แผนและกำหนดเสร็จ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19288" y="4160520"/>
            <a:ext cx="3575304" cy="82296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flag_C8361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7888" y="4425696"/>
            <a:ext cx="292608" cy="29260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677656" y="4160520"/>
            <a:ext cx="2798064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Status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สถานะติดตามได้ใน SIM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166360"/>
            <a:ext cx="5408676" cy="1078992"/>
          </a:xfrm>
          <a:prstGeom prst="roundRect">
            <a:avLst>
              <a:gd name="adj" fmla="val 10169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timer_1A66D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" y="5541264"/>
            <a:ext cx="329184" cy="32918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25880" y="5166360"/>
            <a:ext cx="4494276" cy="10789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SIM ตรวจความคืบหน้าและปลดอุปสรรค — ไม่วิเคราะห์เชิงลึกในเวลาประชุม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5916" y="5166360"/>
            <a:ext cx="5408676" cy="1078992"/>
          </a:xfrm>
          <a:prstGeom prst="roundRect">
            <a:avLst>
              <a:gd name="adj" fmla="val 10169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all_inclusive_0E8C6C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4516" y="5541264"/>
            <a:ext cx="329184" cy="32918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917436" y="5166360"/>
            <a:ext cx="4494276" cy="10789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มาตรฐานใหม่ผ่าน Node → กลับเข้าวง Stabilize ที่ S1 และติดตามการเกิดซ้ำ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C83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7347E"/>
              </a:gs>
              <a:gs pos="100000">
                <a:srgbClr val="3F51B5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603504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5895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914400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0" y="1417320"/>
            <a:ext cx="4206240" cy="2651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000" b="1">
                <a:solidFill>
                  <a:srgbClr val="FFFFFF">
                    <a:alpha val="20000"/>
                  </a:srgbClr>
                </a:solidFill>
                <a:latin typeface="Bai Jamjuree"/>
                <a:ea typeface="Bai Jamjuree"/>
                <a:cs typeface="Bai Jamjuree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3977640"/>
            <a:ext cx="22860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27347E"/>
                </a:solidFill>
                <a:latin typeface="Bai Jamjuree SemiBold"/>
                <a:ea typeface="Bai Jamjuree SemiBold"/>
                <a:cs typeface="Bai Jamjuree SemiBold"/>
              </a:rPr>
              <a:t>Stabilize Loop · S1 · 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68580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spc="300">
                <a:solidFill>
                  <a:srgbClr val="E8EEFA"/>
                </a:solidFill>
                <a:latin typeface="Bai Jamjuree SemiBold"/>
                <a:ea typeface="Bai Jamjuree SemiBold"/>
                <a:cs typeface="Bai Jamjuree SemiBold"/>
              </a:rPr>
              <a:t>COMPONENT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30552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Process Confirmation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ยืนยันที่หน้างานว่ามาตรฐานเกิดขึ้นจริง ทุกวัน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1042726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4 Confirms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28526" y="3703320"/>
            <a:ext cx="827389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6 Steps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7355" y="3703320"/>
            <a:ext cx="1093172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Layered PC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1967" y="3703320"/>
            <a:ext cx="1577328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PC vs Gemba Walk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978408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362456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746504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130552" y="5897880"/>
            <a:ext cx="292608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06040" y="5779008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>
                    <a:alpha val="80000"/>
                  </a:srgbClr>
                </a:solidFill>
                <a:latin typeface="Bai Jamjuree"/>
                <a:ea typeface="Bai Jamjuree"/>
                <a:cs typeface="Bai Jamjuree"/>
              </a:rPr>
              <a:t>Component 5 of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05 · PROCESS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What Process Confirmation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ตรวจจากสภาพจริง ไม่ใช่ดูรายงานย้อนหลังอย่างเดียว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651760" cy="3703320"/>
          </a:xfrm>
          <a:prstGeom prst="roundRect">
            <a:avLst>
              <a:gd name="adj" fmla="val 5517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0392" y="2057400"/>
            <a:ext cx="658368" cy="65836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escriptio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2205533"/>
            <a:ext cx="362102" cy="362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" y="2898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54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6616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ขั้นตอนทำตาม SOP / WI ครบหรือไม่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" y="4617720"/>
            <a:ext cx="80200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ลำดับงาน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5549" y="4617720"/>
            <a:ext cx="111115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อุปกรณ์ถูกต้อง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7969" y="1783080"/>
            <a:ext cx="2651760" cy="3703320"/>
          </a:xfrm>
          <a:prstGeom prst="roundRect">
            <a:avLst>
              <a:gd name="adj" fmla="val 5517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664001" y="2057400"/>
            <a:ext cx="658368" cy="65836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un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134" y="2205533"/>
            <a:ext cx="362102" cy="3621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64001" y="2898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4001" y="3154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4001" y="356616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ค่าควบคุม CCP / OPRP อยู่ในเกณฑ์หรือไม่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64001" y="4617720"/>
            <a:ext cx="49898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36140" y="4617720"/>
            <a:ext cx="59244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OPRP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736" y="4617720"/>
            <a:ext cx="65363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Safety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1578" y="1783080"/>
            <a:ext cx="2651760" cy="3703320"/>
          </a:xfrm>
          <a:prstGeom prst="roundRect">
            <a:avLst>
              <a:gd name="adj" fmla="val 5517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77610" y="2057400"/>
            <a:ext cx="658368" cy="65836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emergency_hom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5742" y="2205533"/>
            <a:ext cx="362102" cy="3621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77610" y="2898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7610" y="3154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Reaction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7610" y="356616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เมื่อผิดปกติ ตอบสนองตามแผนหรือไม่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7610" y="4617720"/>
            <a:ext cx="488095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หยุด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8856" y="4617720"/>
            <a:ext cx="45875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แจ้ง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70766" y="4617720"/>
            <a:ext cx="479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แยก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5186" y="1783080"/>
            <a:ext cx="2651760" cy="3703320"/>
          </a:xfrm>
          <a:prstGeom prst="roundRect">
            <a:avLst>
              <a:gd name="adj" fmla="val 5517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291218" y="2057400"/>
            <a:ext cx="658368" cy="658368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photo_camera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9351" y="2205533"/>
            <a:ext cx="362102" cy="36210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291218" y="2898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1218" y="3154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1218" y="356616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มีสิ่งที่ตรวจสอบได้จริงหรือไม่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1218" y="4617720"/>
            <a:ext cx="829519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สังเกตจริง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93890" y="4617720"/>
            <a:ext cx="936957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ค่าบนเครื่อง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91218" y="5001768"/>
            <a:ext cx="5847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บันทึก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760720"/>
            <a:ext cx="109728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Result: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645920" y="5779008"/>
            <a:ext cx="757336" cy="384048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0B5A45"/>
                </a:solidFill>
                <a:latin typeface="Bai Jamjuree SemiBold"/>
                <a:ea typeface="Bai Jamjuree SemiBold"/>
                <a:cs typeface="Bai Jamjuree SemiBold"/>
              </a:rPr>
              <a:t>Pass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12984" y="5779008"/>
            <a:ext cx="2359549" cy="384048"/>
          </a:xfrm>
          <a:prstGeom prst="roundRect">
            <a:avLst>
              <a:gd name="adj" fmla="val 5000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8E2414"/>
                </a:solidFill>
                <a:latin typeface="Bai Jamjuree SemiBold"/>
                <a:ea typeface="Bai Jamjuree SemiBold"/>
                <a:cs typeface="Bai Jamjuree SemiBold"/>
              </a:rPr>
              <a:t>Fail → Reaction Plan ทันที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2261" y="5779008"/>
            <a:ext cx="673164" cy="384048"/>
          </a:xfrm>
          <a:prstGeom prst="roundRect">
            <a:avLst>
              <a:gd name="adj" fmla="val 50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N/A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9474" y="5760720"/>
            <a:ext cx="5555118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Fail ไม่ใช่การจับผิด แต่เป็นสัญญาณว่ามาตรฐานหรือการฝึกต้องปรับ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05 · PROCESS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Process Confirmation in 6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ทำเป็นรอบตามแผน · บันทึกและติดตามจนปิด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11046" y="2103120"/>
            <a:ext cx="9166860" cy="0"/>
          </a:xfrm>
          <a:prstGeom prst="line">
            <a:avLst/>
          </a:prstGeom>
          <a:ln w="38100">
            <a:solidFill>
              <a:srgbClr val="B7B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1006" y="1783080"/>
            <a:ext cx="640080" cy="640080"/>
          </a:xfrm>
          <a:prstGeom prst="ellipse">
            <a:avLst/>
          </a:prstGeom>
          <a:solidFill>
            <a:srgbClr val="1E2A6E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y_locatio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8" y="1947672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Select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เลือกจุดเสี่ยงหรือจุดควบคุม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เช่น จุดซีล · CCP</a:t>
            </a:r>
          </a:p>
        </p:txBody>
      </p:sp>
      <p:sp>
        <p:nvSpPr>
          <p:cNvPr id="15" name="Oval 14"/>
          <p:cNvSpPr/>
          <p:nvPr/>
        </p:nvSpPr>
        <p:spPr>
          <a:xfrm>
            <a:off x="3024378" y="1783080"/>
            <a:ext cx="640080" cy="640080"/>
          </a:xfrm>
          <a:prstGeom prst="ellipse">
            <a:avLst/>
          </a:prstGeom>
          <a:solidFill>
            <a:srgbClr val="27347E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menu_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970" y="1947672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427732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73452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Prepare Standard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9172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เตรียม WI เกณฑ์ และ Reaction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82596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519172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37460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WI + เกณฑ์ค่าควบคุม</a:t>
            </a:r>
          </a:p>
        </p:txBody>
      </p:sp>
      <p:sp>
        <p:nvSpPr>
          <p:cNvPr id="23" name="Oval 22"/>
          <p:cNvSpPr/>
          <p:nvPr/>
        </p:nvSpPr>
        <p:spPr>
          <a:xfrm>
            <a:off x="4857750" y="1783080"/>
            <a:ext cx="640080" cy="640080"/>
          </a:xfrm>
          <a:prstGeom prst="ellipse">
            <a:avLst/>
          </a:prstGeom>
          <a:solidFill>
            <a:srgbClr val="2F3F95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directions_wal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2342" y="194767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61104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6824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Go &amp; See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2544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ดูการทำงานจริงที่จุดงาน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52544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ไปที่จุดงานจริง</a:t>
            </a:r>
          </a:p>
        </p:txBody>
      </p:sp>
      <p:sp>
        <p:nvSpPr>
          <p:cNvPr id="31" name="Oval 30"/>
          <p:cNvSpPr/>
          <p:nvPr/>
        </p:nvSpPr>
        <p:spPr>
          <a:xfrm>
            <a:off x="6691122" y="1783080"/>
            <a:ext cx="640080" cy="640080"/>
          </a:xfrm>
          <a:prstGeom prst="ellipse">
            <a:avLst/>
          </a:prstGeom>
          <a:solidFill>
            <a:srgbClr val="3949A8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photo_camera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5714" y="1947672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4476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0196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Confirm 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5916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เทียบผลจริงกับมาตรฐาน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9340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85916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04204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ค่าบนเครื่อง · บันทึก</a:t>
            </a:r>
          </a:p>
        </p:txBody>
      </p:sp>
      <p:sp>
        <p:nvSpPr>
          <p:cNvPr id="39" name="Oval 38"/>
          <p:cNvSpPr/>
          <p:nvPr/>
        </p:nvSpPr>
        <p:spPr>
          <a:xfrm>
            <a:off x="8524494" y="1783080"/>
            <a:ext cx="640080" cy="640080"/>
          </a:xfrm>
          <a:prstGeom prst="ellipse">
            <a:avLst/>
          </a:prstGeom>
          <a:solidFill>
            <a:srgbClr val="4A5BC0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gavel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9086" y="1947672"/>
            <a:ext cx="310896" cy="31089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927848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Judge &amp; React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Pass / Fail / N/A · ตอบสนองเมื่อ Fail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82712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019288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37576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Fail → หยุด · แจ้ง</a:t>
            </a:r>
          </a:p>
        </p:txBody>
      </p:sp>
      <p:sp>
        <p:nvSpPr>
          <p:cNvPr id="47" name="Oval 46"/>
          <p:cNvSpPr/>
          <p:nvPr/>
        </p:nvSpPr>
        <p:spPr>
          <a:xfrm>
            <a:off x="10357866" y="1783080"/>
            <a:ext cx="640080" cy="640080"/>
          </a:xfrm>
          <a:prstGeom prst="ellipse">
            <a:avLst/>
          </a:prstGeom>
          <a:solidFill>
            <a:srgbClr val="5B6CD0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task_al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2458" y="1947672"/>
            <a:ext cx="310896" cy="31089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761220" y="2542032"/>
            <a:ext cx="18333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06940" y="2816352"/>
            <a:ext cx="17419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Record &amp; Follow 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2660" y="3364992"/>
            <a:ext cx="1650492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บันทึกและติดตามจนปิด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16084" y="4343400"/>
            <a:ext cx="1723644" cy="1051560"/>
          </a:xfrm>
          <a:prstGeom prst="roundRect">
            <a:avLst>
              <a:gd name="adj" fmla="val 10434"/>
            </a:avLst>
          </a:prstGeom>
          <a:solidFill>
            <a:srgbClr val="E9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852660" y="4434840"/>
            <a:ext cx="16504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Example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0948" y="4681728"/>
            <a:ext cx="161391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Owner · Due · ปิดงาน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" y="5623560"/>
            <a:ext cx="11000232" cy="603504"/>
          </a:xfrm>
          <a:prstGeom prst="roundRect">
            <a:avLst>
              <a:gd name="adj" fmla="val 18181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event_repeat_7FDBC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5760720"/>
            <a:ext cx="329184" cy="32918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325880" y="5623560"/>
            <a:ext cx="1008583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PC ที่ได้ผล = ทำตามแผนสม่ำเสมอ + Fail ทุกรายการมี Action ที่ปิดด้วยหลักฐาน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05 · PROCESS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Layered Process Confirmation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แต่ละระดับตรวจคนละมุม ตามหน้าที่ — ไม่ซ้ำซ้อน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37192" y="17373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ความถี่ (ข้อเสนอ)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7799832" cy="786384"/>
          </a:xfrm>
          <a:prstGeom prst="roundRect">
            <a:avLst>
              <a:gd name="adj" fmla="val 13953"/>
            </a:avLst>
          </a:prstGeom>
          <a:solidFill>
            <a:srgbClr val="1E2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partmen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331720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2103120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Executive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776472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ประสิทธิผลของระบบ และอุปสรรคสำคัญ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37192" y="2103120"/>
            <a:ext cx="20574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รายเดือน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035808"/>
            <a:ext cx="8119872" cy="786384"/>
          </a:xfrm>
          <a:prstGeom prst="roundRect">
            <a:avLst>
              <a:gd name="adj" fmla="val 13953"/>
            </a:avLst>
          </a:prstGeom>
          <a:solidFill>
            <a:srgbClr val="2F3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manage_account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264408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3035808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35808"/>
            <a:ext cx="4096512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การควบคุมพื้นที่ และการติดตามปัญหา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37192" y="3035808"/>
            <a:ext cx="20574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รายสัปดาห์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968496"/>
            <a:ext cx="8439912" cy="786384"/>
          </a:xfrm>
          <a:prstGeom prst="roundRect">
            <a:avLst>
              <a:gd name="adj" fmla="val 13953"/>
            </a:avLst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engineer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4197096"/>
            <a:ext cx="329184" cy="32918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63040" y="3968496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Area Leader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68496"/>
            <a:ext cx="4416552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งานจริง มาตรฐาน และความผิดปกติรายวัน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37192" y="3968496"/>
            <a:ext cx="20574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ทุกวัน / ทุกกะ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4901184"/>
            <a:ext cx="8759952" cy="786384"/>
          </a:xfrm>
          <a:prstGeom prst="roundRect">
            <a:avLst>
              <a:gd name="adj" fmla="val 13953"/>
            </a:avLst>
          </a:prstGeom>
          <a:solidFill>
            <a:srgbClr val="E9EBF7"/>
          </a:solidFill>
          <a:ln w="12700">
            <a:solidFill>
              <a:srgbClr val="3F51B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verified_user_3F51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5129784"/>
            <a:ext cx="329184" cy="32918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63040" y="4901184"/>
            <a:ext cx="2926080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Safety / Quality Specialist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901184"/>
            <a:ext cx="4736592" cy="7863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ยืนยันข้อกำหนดเฉพาะด้าน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37192" y="4901184"/>
            <a:ext cx="205740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ตามแผนความเสี่ยง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11000232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ความถี่เป็นข้อเสนอเริ่มต้น — ปรับตามความเสี่ยงของพื้นที่และระบุใน Leader Standard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3F51B5"/>
                </a:solidFill>
                <a:latin typeface="Bai Jamjuree SemiBold"/>
                <a:ea typeface="Bai Jamjuree SemiBold"/>
                <a:cs typeface="Bai Jamjuree SemiBold"/>
              </a:rPr>
              <a:t>05 · PROCESS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Process Confirmation vs Gemba Walk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55627A"/>
                </a:solidFill>
                <a:latin typeface="Bai Jamjuree"/>
                <a:ea typeface="Bai Jamjuree"/>
                <a:cs typeface="Bai Jamjuree"/>
              </a:rPr>
              <a:t>ใช้คู่กัน แต่เป้าหมายต่างกัน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0232" cy="44805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94360" y="1783080"/>
            <a:ext cx="1783080" cy="4480560"/>
          </a:xfrm>
          <a:prstGeom prst="roundRect">
            <a:avLst>
              <a:gd name="adj" fmla="val 7179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194560" y="1783080"/>
            <a:ext cx="182880" cy="44805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2377440" y="1783080"/>
            <a:ext cx="4608576" cy="77724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986016" y="1783080"/>
            <a:ext cx="4608576" cy="777240"/>
          </a:xfrm>
          <a:prstGeom prst="roundRect">
            <a:avLst>
              <a:gd name="adj" fmla="val 16470"/>
            </a:avLst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86016" y="2171700"/>
            <a:ext cx="4608576" cy="388620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986016" y="1783080"/>
            <a:ext cx="274320" cy="777240"/>
          </a:xfrm>
          <a:prstGeom prst="rect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act_chec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2020824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90672" y="1783080"/>
            <a:ext cx="3694176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Process Confirmation</a:t>
            </a:r>
          </a:p>
        </p:txBody>
      </p:sp>
      <p:pic>
        <p:nvPicPr>
          <p:cNvPr id="15" name="Picture 14" descr="directions_wal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2020824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99248" y="1783080"/>
            <a:ext cx="3694176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Gemba Walk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560320"/>
            <a:ext cx="1417320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56032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ยืนยันว่ามาตรฐานถูกทำจริง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336" y="256032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เห็นและเข้าใจกระบวนการจริง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3486150"/>
            <a:ext cx="11000232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68680" y="3486150"/>
            <a:ext cx="1417320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48615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ใช้เกณฑ์และหลักฐาน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0336" y="348615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สังเกตการไหลของงาน ความสูญเสีย อุปสรรค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411980"/>
            <a:ext cx="11000232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411980"/>
            <a:ext cx="1417320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41198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Pass / Fail / N/A + การตอบสนอง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441198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ข้อค้นพบ และโอกาสปรับปรุง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5337810"/>
            <a:ext cx="11000232" cy="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" y="5337810"/>
            <a:ext cx="1417320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Role in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533781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รักษามาตรฐาน · Stabilize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5337810"/>
            <a:ext cx="4151376" cy="92583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E2B4A"/>
                </a:solidFill>
                <a:latin typeface="Bai Jamjuree"/>
                <a:ea typeface="Bai Jamjuree"/>
                <a:cs typeface="Bai Jamjuree"/>
              </a:rPr>
              <a:t>ค้นหาปัญหาที่ยังไม่ปรากฏในรายงาน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986016" y="2560320"/>
            <a:ext cx="0" cy="3703320"/>
          </a:xfrm>
          <a:prstGeom prst="line">
            <a:avLst/>
          </a:prstGeom>
          <a:ln w="12700">
            <a:solidFill>
              <a:srgbClr val="DD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3F6F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 spc="25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4275A"/>
                </a:solidFill>
                <a:latin typeface="Bai Jamjuree"/>
                <a:ea typeface="Bai Jamjuree"/>
                <a:cs typeface="Bai Jamjuree"/>
              </a:rPr>
              <a:t>One System, Five Components</a:t>
            </a:r>
          </a:p>
        </p:txBody>
      </p:sp>
      <p:sp>
        <p:nvSpPr>
          <p:cNvPr id="5" name="Oval 4"/>
          <p:cNvSpPr/>
          <p:nvPr/>
        </p:nvSpPr>
        <p:spPr>
          <a:xfrm>
            <a:off x="1417320" y="2286000"/>
            <a:ext cx="3383280" cy="3383280"/>
          </a:xfrm>
          <a:prstGeom prst="ellipse">
            <a:avLst/>
          </a:prstGeom>
          <a:noFill/>
          <a:ln w="127000">
            <a:solidFill>
              <a:srgbClr val="D5D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2331720" y="3200400"/>
            <a:ext cx="1554480" cy="1554480"/>
          </a:xfrm>
          <a:prstGeom prst="ellipse">
            <a:avLst/>
          </a:prstGeom>
          <a:gradFill rotWithShape="1">
            <a:gsLst>
              <a:gs pos="0">
                <a:srgbClr val="14275A"/>
              </a:gs>
              <a:gs pos="100000">
                <a:srgbClr val="2A4590"/>
              </a:gs>
            </a:gsLst>
            <a:lin scaled="0" ang="2700000"/>
          </a:gradFill>
          <a:ln>
            <a:noFill/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all_inclusive_7FDB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3447288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7440" y="38404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Stable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Operation</a:t>
            </a:r>
          </a:p>
        </p:txBody>
      </p:sp>
      <p:sp>
        <p:nvSpPr>
          <p:cNvPr id="9" name="Oval 8"/>
          <p:cNvSpPr/>
          <p:nvPr/>
        </p:nvSpPr>
        <p:spPr>
          <a:xfrm>
            <a:off x="2596896" y="1773936"/>
            <a:ext cx="1024128" cy="1024128"/>
          </a:xfrm>
          <a:prstGeom prst="ellipse">
            <a:avLst/>
          </a:prstGeom>
          <a:solidFill>
            <a:srgbClr val="0E8C6C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ccount_tre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1975104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560320" y="23225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KPI Cascade</a:t>
            </a:r>
          </a:p>
        </p:txBody>
      </p:sp>
      <p:sp>
        <p:nvSpPr>
          <p:cNvPr id="12" name="Oval 11"/>
          <p:cNvSpPr/>
          <p:nvPr/>
        </p:nvSpPr>
        <p:spPr>
          <a:xfrm>
            <a:off x="4205741" y="2942830"/>
            <a:ext cx="1024128" cy="1024128"/>
          </a:xfrm>
          <a:prstGeom prst="ellipse">
            <a:avLst/>
          </a:prstGeom>
          <a:solidFill>
            <a:srgbClr val="1A66D9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group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501" y="3143998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69165" y="349147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Meeting</a:t>
            </a:r>
          </a:p>
        </p:txBody>
      </p:sp>
      <p:sp>
        <p:nvSpPr>
          <p:cNvPr id="15" name="Oval 14"/>
          <p:cNvSpPr/>
          <p:nvPr/>
        </p:nvSpPr>
        <p:spPr>
          <a:xfrm>
            <a:off x="3591217" y="4834142"/>
            <a:ext cx="1024128" cy="1024128"/>
          </a:xfrm>
          <a:prstGeom prst="ellipse">
            <a:avLst/>
          </a:prstGeom>
          <a:solidFill>
            <a:srgbClr val="D9730D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notification_importan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6977" y="5035310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54641" y="538278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Escalation</a:t>
            </a:r>
          </a:p>
        </p:txBody>
      </p:sp>
      <p:sp>
        <p:nvSpPr>
          <p:cNvPr id="18" name="Oval 17"/>
          <p:cNvSpPr/>
          <p:nvPr/>
        </p:nvSpPr>
        <p:spPr>
          <a:xfrm>
            <a:off x="1602575" y="4834142"/>
            <a:ext cx="1024128" cy="1024128"/>
          </a:xfrm>
          <a:prstGeom prst="ellipse">
            <a:avLst/>
          </a:prstGeom>
          <a:solidFill>
            <a:srgbClr val="C8361F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troubleshoo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8335" y="5035310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565999" y="538278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RCA</a:t>
            </a:r>
          </a:p>
        </p:txBody>
      </p:sp>
      <p:sp>
        <p:nvSpPr>
          <p:cNvPr id="21" name="Oval 20"/>
          <p:cNvSpPr/>
          <p:nvPr/>
        </p:nvSpPr>
        <p:spPr>
          <a:xfrm>
            <a:off x="988051" y="2942830"/>
            <a:ext cx="1024128" cy="1024128"/>
          </a:xfrm>
          <a:prstGeom prst="ellipse">
            <a:avLst/>
          </a:prstGeom>
          <a:solidFill>
            <a:srgbClr val="3F51B5"/>
          </a:solidFill>
          <a:ln w="38100">
            <a:solidFill>
              <a:srgbClr val="FFFFFF"/>
            </a:solidFill>
          </a:ln>
          <a:effectLst>
            <a:outerShdw blurRad="177800" dist="38100" dir="5400000" algn="t" rotWithShape="0">
              <a:srgbClr val="14275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fact_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3811" y="314399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51475" y="349147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783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spc="2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EXPECTED OUTCOMES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783080"/>
            <a:ext cx="2816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1200" b="0" spc="100">
                <a:solidFill>
                  <a:srgbClr val="55627A"/>
                </a:solidFill>
                <a:latin typeface="Bai Jamjuree SemiBold"/>
                <a:ea typeface="Bai Jamjuree SemiBold"/>
                <a:cs typeface="Bai Jamjuree SemiBold"/>
              </a:rPr>
              <a:t>MEASURE (ข้อเสนอ)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194560"/>
            <a:ext cx="5559552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199632" y="232257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balance_0E8C6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6617" y="2429561"/>
            <a:ext cx="261518" cy="26151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39712" y="219456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กระบวนการผลิตเสถียรขึ้น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37192" y="2350008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0E8C6C"/>
                </a:solidFill>
                <a:latin typeface="Bai Jamjuree SemiBold"/>
                <a:ea typeface="Bai Jamjuree SemiBold"/>
                <a:cs typeface="Bai Jamjuree SemiBold"/>
              </a:rPr>
              <a:t>% กะที่ผลลัพธ์อยู่ในมาตรฐาน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063240"/>
            <a:ext cx="5559552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199632" y="319125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visibility_1A66D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6617" y="3298241"/>
            <a:ext cx="261518" cy="26151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39712" y="306324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เห็นปัญหาเร็วขึ้น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37192" y="3218688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E6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1A66D9"/>
                </a:solidFill>
                <a:latin typeface="Bai Jamjuree SemiBold"/>
                <a:ea typeface="Bai Jamjuree SemiBold"/>
                <a:cs typeface="Bai Jamjuree SemiBold"/>
              </a:rPr>
              <a:t>เวลาตั้งแต่พบจนตอบสนอง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931920"/>
            <a:ext cx="5559552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199632" y="405993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person_check_D9730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6617" y="4166921"/>
            <a:ext cx="261518" cy="26151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39712" y="393192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ทุกการดำเนินการมีเจ้าของชัดเจน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37192" y="4087368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FD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D9730D"/>
                </a:solidFill>
                <a:latin typeface="Bai Jamjuree SemiBold"/>
                <a:ea typeface="Bai Jamjuree SemiBold"/>
                <a:cs typeface="Bai Jamjuree SemiBold"/>
              </a:rPr>
              <a:t>% Action ปิดตรงเวลา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4800600"/>
            <a:ext cx="5559552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199632" y="4928616"/>
            <a:ext cx="475488" cy="475488"/>
          </a:xfrm>
          <a:prstGeom prst="roundRect">
            <a:avLst>
              <a:gd name="adj" fmla="val 19230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trending_down_C8361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6617" y="5035601"/>
            <a:ext cx="261518" cy="26151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39712" y="4800600"/>
            <a:ext cx="26060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14275A"/>
                </a:solidFill>
                <a:latin typeface="Bai Jamjuree SemiBold"/>
                <a:ea typeface="Bai Jamjuree SemiBold"/>
                <a:cs typeface="Bai Jamjuree SemiBold"/>
              </a:rPr>
              <a:t>ความสูญเสียจากปัญหาเดิมลดลง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37192" y="4956048"/>
            <a:ext cx="1920240" cy="420624"/>
          </a:xfrm>
          <a:prstGeom prst="roundRect">
            <a:avLst>
              <a:gd name="adj" fmla="val 17391"/>
            </a:avLst>
          </a:prstGeom>
          <a:solidFill>
            <a:srgbClr val="FBE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C8361F"/>
                </a:solidFill>
                <a:latin typeface="Bai Jamjuree SemiBold"/>
                <a:ea typeface="Bai Jamjuree SemiBold"/>
                <a:cs typeface="Bai Jamjuree SemiBold"/>
              </a:rPr>
              <a:t>จำนวนปัญหาซ้ำ / เดือน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35040" y="5715000"/>
            <a:ext cx="5559552" cy="530352"/>
          </a:xfrm>
          <a:prstGeom prst="roundRect">
            <a:avLst>
              <a:gd name="adj" fmla="val 17241"/>
            </a:avLst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วัดจากผลลัพธ์ ไม่ใช่จำนวนประชุมหรือจำนวนแบบฟอร์ม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8A94A8"/>
                </a:solidFill>
                <a:latin typeface="Bai Jamjuree SemiBold"/>
                <a:ea typeface="Bai Jamjuree SemiBold"/>
                <a:cs typeface="Bai Jamjuree SemiBold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D52"/>
              </a:gs>
              <a:gs pos="100000">
                <a:srgbClr val="0C4D7C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 rot="1680000">
            <a:off x="5669280" y="-1371600"/>
            <a:ext cx="822960" cy="9601200"/>
          </a:xfrm>
          <a:prstGeom prst="rect">
            <a:avLst/>
          </a:prstGeom>
          <a:solidFill>
            <a:srgbClr val="FFFFFF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 rot="1680000">
            <a:off x="7132320" y="-1371600"/>
            <a:ext cx="822960" cy="9601200"/>
          </a:xfrm>
          <a:prstGeom prst="rect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 rot="1680000">
            <a:off x="8595360" y="-1371600"/>
            <a:ext cx="822960" cy="9601200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30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SAPPE INFINITE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Three Daily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566160" cy="4206240"/>
          </a:xfrm>
          <a:prstGeom prst="roundRect">
            <a:avLst>
              <a:gd name="adj" fmla="val 461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86968" y="1938528"/>
            <a:ext cx="658368" cy="658368"/>
          </a:xfrm>
          <a:prstGeom prst="ellipse">
            <a:avLst/>
          </a:prstGeom>
          <a:solidFill>
            <a:srgbClr val="0E8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ar_char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2086661"/>
            <a:ext cx="362102" cy="3621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6968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50">
                <a:solidFill>
                  <a:srgbClr val="7FDBC0"/>
                </a:solidFill>
                <a:latin typeface="Bai Jamjuree SemiBold"/>
                <a:ea typeface="Bai Jamjuree SemiBold"/>
                <a:cs typeface="Bai Jamjuree SemiBold"/>
              </a:rPr>
              <a:t>STABILIZE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108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วันนี้ทำได้ตามมาตรฐานหรือยัง?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" y="4434840"/>
            <a:ext cx="2980944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86968" y="4617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FORUM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SIM ประจำกะ / วัน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120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หน้างาน / พื้นที่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1396" y="1645920"/>
            <a:ext cx="3566160" cy="4206240"/>
          </a:xfrm>
          <a:prstGeom prst="roundRect">
            <a:avLst>
              <a:gd name="adj" fmla="val 461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604004" y="1938528"/>
            <a:ext cx="658368" cy="658368"/>
          </a:xfrm>
          <a:prstGeom prst="ellipse">
            <a:avLst/>
          </a:prstGeom>
          <a:solidFill>
            <a:srgbClr val="1A66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ads_cli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137" y="2086661"/>
            <a:ext cx="362102" cy="3621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04004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50">
                <a:solidFill>
                  <a:srgbClr val="9FC2FF"/>
                </a:solidFill>
                <a:latin typeface="Bai Jamjuree SemiBold"/>
                <a:ea typeface="Bai Jamjuree SemiBold"/>
                <a:cs typeface="Bai Jamjuree SemiBold"/>
              </a:rPr>
              <a:t>ELEVATE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4004" y="3108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จะยกระดับมาตรฐานเรื่องใด ด้วยโครงการอะไร?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04004" y="4434840"/>
            <a:ext cx="2980944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04004" y="4617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FORUM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Weekly Review · โครงการ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4004" y="5120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FI Pillar / ทีมโครงการ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2" y="1645920"/>
            <a:ext cx="3566160" cy="4206240"/>
          </a:xfrm>
          <a:prstGeom prst="roundRect">
            <a:avLst>
              <a:gd name="adj" fmla="val 4615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21040" y="1938528"/>
            <a:ext cx="658368" cy="658368"/>
          </a:xfrm>
          <a:prstGeom prst="ellipse">
            <a:avLst/>
          </a:prstGeom>
          <a:solidFill>
            <a:srgbClr val="E5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hub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173" y="2086661"/>
            <a:ext cx="362102" cy="3621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2104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50" b="0" spc="250">
                <a:solidFill>
                  <a:srgbClr val="FFB4A3"/>
                </a:solidFill>
                <a:latin typeface="Bai Jamjuree SemiBold"/>
                <a:ea typeface="Bai Jamjuree SemiBold"/>
                <a:cs typeface="Bai Jamjuree SemiBold"/>
              </a:rPr>
              <a:t>NODE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30175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Bai Jamjuree SemiBold"/>
                <a:ea typeface="Bai Jamjuree SemiBold"/>
                <a:cs typeface="Bai Jamjuree SemiBold"/>
              </a:rPr>
              <a:t>ปิดงาน → ยืนยันมาตรฐาน → ขยายผล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21040" y="4434840"/>
            <a:ext cx="2980944" cy="0"/>
          </a:xfrm>
          <a:prstGeom prst="line">
            <a:avLst/>
          </a:prstGeom>
          <a:ln w="9525">
            <a:solidFill>
              <a:srgbClr val="FFFFF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21040" y="46177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FORUM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ตามเกณฑ์ RCA / BDA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120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spc="150">
                <a:solidFill>
                  <a:srgbClr val="9FB2E0"/>
                </a:solidFill>
                <a:latin typeface="Bai Jamjuree SemiBold"/>
                <a:ea typeface="Bai Jamjuree SemiBold"/>
                <a:cs typeface="Bai Jamjuree SemiBold"/>
              </a:rPr>
              <a:t>OWNER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Bai Jamjuree"/>
                <a:ea typeface="Bai Jamjuree"/>
                <a:cs typeface="Bai Jamjuree"/>
              </a:rPr>
              <a:t>เจ้าของปัญหา / ทีม RCA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6144768"/>
            <a:ext cx="411480" cy="36576"/>
          </a:xfrm>
          <a:prstGeom prst="rect">
            <a:avLst/>
          </a:prstGeom>
          <a:solidFill>
            <a:srgbClr val="E5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43000" y="60167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Bai Jamjuree Medium"/>
                <a:ea typeface="Bai Jamjuree Medium"/>
                <a:cs typeface="Bai Jamjuree Medium"/>
              </a:rPr>
              <a:t>We Drive with Standard and Commitment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10528"/>
            <a:ext cx="292608" cy="32004"/>
          </a:xfrm>
          <a:prstGeom prst="rect">
            <a:avLst/>
          </a:prstGeom>
          <a:solidFill>
            <a:srgbClr val="142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8408" y="641908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"/>
                <a:ea typeface="Bai Jamjuree"/>
                <a:cs typeface="Bai Jamjuree"/>
              </a:rPr>
              <a:t>SAPPE  ·  Daily Management System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97312" y="641908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B8C3DD"/>
                </a:solidFill>
                <a:latin typeface="Bai Jamjuree SemiBold"/>
                <a:ea typeface="Bai Jamjuree SemiBold"/>
                <a:cs typeface="Bai Jamjuree SemiBold"/>
              </a:rPr>
              <a:t>45 /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Management System — DMS Introduction &amp; 5 Components</dc:title>
  <dc:subject>DMS Training</dc:subject>
  <dc:creator>Sappe Continuous Improvement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